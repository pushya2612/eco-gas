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mbria Bold" charset="1" panose="02040803050406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  <p:embeddedFont>
      <p:font typeface="Gliker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04520" y="-3017520"/>
            <a:ext cx="8229600" cy="8229600"/>
            <a:chOff x="0" y="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233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291840" y="6309360"/>
            <a:ext cx="7543800" cy="7543800"/>
            <a:chOff x="0" y="0"/>
            <a:chExt cx="10058400" cy="1005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1233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2125980"/>
            <a:ext cx="18283428" cy="548640"/>
            <a:chOff x="0" y="0"/>
            <a:chExt cx="24377904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8887" r="0" b="-59888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68580" y="1028700"/>
            <a:ext cx="18283428" cy="2141387"/>
            <a:chOff x="0" y="0"/>
            <a:chExt cx="24377904" cy="28551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2855182"/>
            </a:xfrm>
            <a:custGeom>
              <a:avLst/>
              <a:gdLst/>
              <a:ahLst/>
              <a:cxnLst/>
              <a:rect r="r" b="b" t="t" l="l"/>
              <a:pathLst>
                <a:path h="2855182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855182"/>
                  </a:lnTo>
                  <a:lnTo>
                    <a:pt x="0" y="285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721" r="0" b="-800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4377904" cy="29313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b="true" sz="3199" spc="685">
                  <a:solidFill>
                    <a:srgbClr val="A9C9A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WASTE-TO-WEALTH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2743200"/>
            <a:ext cx="18283428" cy="2194560"/>
            <a:chOff x="0" y="0"/>
            <a:chExt cx="243779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221" r="0" b="-11222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2736056"/>
            <a:ext cx="18283428" cy="2201704"/>
            <a:chOff x="0" y="0"/>
            <a:chExt cx="24377904" cy="29356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77904" cy="2935605"/>
            </a:xfrm>
            <a:custGeom>
              <a:avLst/>
              <a:gdLst/>
              <a:ahLst/>
              <a:cxnLst/>
              <a:rect r="r" b="b" t="t" l="l"/>
              <a:pathLst>
                <a:path h="293560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935605"/>
                  </a:lnTo>
                  <a:lnTo>
                    <a:pt x="0" y="2935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08" r="0" b="-1118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77904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ECO</a:t>
              </a:r>
              <a:r>
                <a:rPr lang="en-US" sz="12000" b="true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GAS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4965192"/>
            <a:ext cx="18283428" cy="754380"/>
            <a:chOff x="0" y="0"/>
            <a:chExt cx="24377904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7790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917" r="0" b="-42191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4915186"/>
            <a:ext cx="18283428" cy="804386"/>
            <a:chOff x="0" y="0"/>
            <a:chExt cx="24377904" cy="10725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77904" cy="1072515"/>
            </a:xfrm>
            <a:custGeom>
              <a:avLst/>
              <a:gdLst/>
              <a:ahLst/>
              <a:cxnLst/>
              <a:rect r="r" b="b" t="t" l="l"/>
              <a:pathLst>
                <a:path h="1072515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072515"/>
                  </a:lnTo>
                  <a:lnTo>
                    <a:pt x="0" y="1072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888" r="0" b="-3928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4377904" cy="1139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F7F9F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Turning Everyday Food Waste Into Clean Cooking Energy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01234" y="6377940"/>
            <a:ext cx="1303020" cy="1303020"/>
            <a:chOff x="0" y="0"/>
            <a:chExt cx="1737360" cy="1737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B634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470627" y="6547333"/>
            <a:ext cx="964216" cy="964216"/>
            <a:chOff x="0" y="0"/>
            <a:chExt cx="1285621" cy="1285621"/>
          </a:xfrm>
        </p:grpSpPr>
        <p:sp>
          <p:nvSpPr>
            <p:cNvPr name="Freeform 26" id="26" descr="/home/claude/ecogas/icons/waste_white.png"/>
            <p:cNvSpPr/>
            <p:nvPr/>
          </p:nvSpPr>
          <p:spPr>
            <a:xfrm flipH="false" flipV="false" rot="0">
              <a:off x="0" y="0"/>
              <a:ext cx="1285621" cy="1285621"/>
            </a:xfrm>
            <a:custGeom>
              <a:avLst/>
              <a:gdLst/>
              <a:ahLst/>
              <a:cxnLst/>
              <a:rect r="r" b="b" t="t" l="l"/>
              <a:pathLst>
                <a:path h="1285621" w="1285621">
                  <a:moveTo>
                    <a:pt x="0" y="0"/>
                  </a:moveTo>
                  <a:lnTo>
                    <a:pt x="1285621" y="0"/>
                  </a:lnTo>
                  <a:lnTo>
                    <a:pt x="1285621" y="1285621"/>
                  </a:lnTo>
                  <a:lnTo>
                    <a:pt x="0" y="128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821174" y="7790688"/>
            <a:ext cx="2263140" cy="411480"/>
            <a:chOff x="0" y="0"/>
            <a:chExt cx="30175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17520" cy="548640"/>
            </a:xfrm>
            <a:custGeom>
              <a:avLst/>
              <a:gdLst/>
              <a:ahLst/>
              <a:cxnLst/>
              <a:rect r="r" b="b" t="t" l="l"/>
              <a:pathLst>
                <a:path h="5486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2" r="0" b="-57094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21174" y="7769257"/>
            <a:ext cx="2263140" cy="432911"/>
            <a:chOff x="0" y="0"/>
            <a:chExt cx="3017520" cy="5772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17520" cy="577215"/>
            </a:xfrm>
            <a:custGeom>
              <a:avLst/>
              <a:gdLst/>
              <a:ahLst/>
              <a:cxnLst/>
              <a:rect r="r" b="b" t="t" l="l"/>
              <a:pathLst>
                <a:path h="577215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62" r="0" b="-518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01752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7F9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Food Waste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1142" y="6878574"/>
            <a:ext cx="438912" cy="301752"/>
            <a:chOff x="0" y="0"/>
            <a:chExt cx="585216" cy="4023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">
                  <a:moveTo>
                    <a:pt x="0" y="0"/>
                  </a:moveTo>
                  <a:lnTo>
                    <a:pt x="384048" y="0"/>
                  </a:lnTo>
                  <a:lnTo>
                    <a:pt x="585216" y="201168"/>
                  </a:lnTo>
                  <a:lnTo>
                    <a:pt x="384048" y="402336"/>
                  </a:lnTo>
                  <a:lnTo>
                    <a:pt x="0" y="402336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427214" y="6377940"/>
            <a:ext cx="1303020" cy="1303020"/>
            <a:chOff x="0" y="0"/>
            <a:chExt cx="173736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B634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596607" y="6547333"/>
            <a:ext cx="964216" cy="964216"/>
            <a:chOff x="0" y="0"/>
            <a:chExt cx="1285621" cy="1285621"/>
          </a:xfrm>
        </p:grpSpPr>
        <p:sp>
          <p:nvSpPr>
            <p:cNvPr name="Freeform 37" id="37" descr="/home/claude/ecogas/icons/truck_white.png"/>
            <p:cNvSpPr/>
            <p:nvPr/>
          </p:nvSpPr>
          <p:spPr>
            <a:xfrm flipH="false" flipV="false" rot="0">
              <a:off x="0" y="0"/>
              <a:ext cx="1285621" cy="1285621"/>
            </a:xfrm>
            <a:custGeom>
              <a:avLst/>
              <a:gdLst/>
              <a:ahLst/>
              <a:cxnLst/>
              <a:rect r="r" b="b" t="t" l="l"/>
              <a:pathLst>
                <a:path h="1285621" w="1285621">
                  <a:moveTo>
                    <a:pt x="0" y="0"/>
                  </a:moveTo>
                  <a:lnTo>
                    <a:pt x="1285621" y="0"/>
                  </a:lnTo>
                  <a:lnTo>
                    <a:pt x="1285621" y="1285621"/>
                  </a:lnTo>
                  <a:lnTo>
                    <a:pt x="0" y="128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947154" y="7790688"/>
            <a:ext cx="2263140" cy="411480"/>
            <a:chOff x="0" y="0"/>
            <a:chExt cx="301752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17520" cy="548640"/>
            </a:xfrm>
            <a:custGeom>
              <a:avLst/>
              <a:gdLst/>
              <a:ahLst/>
              <a:cxnLst/>
              <a:rect r="r" b="b" t="t" l="l"/>
              <a:pathLst>
                <a:path h="5486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2" r="0" b="-57094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947154" y="7769257"/>
            <a:ext cx="2263140" cy="432911"/>
            <a:chOff x="0" y="0"/>
            <a:chExt cx="3017520" cy="5772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17520" cy="577215"/>
            </a:xfrm>
            <a:custGeom>
              <a:avLst/>
              <a:gdLst/>
              <a:ahLst/>
              <a:cxnLst/>
              <a:rect r="r" b="b" t="t" l="l"/>
              <a:pathLst>
                <a:path h="577215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62" r="0" b="-518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01752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7F9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77122" y="6878574"/>
            <a:ext cx="438912" cy="301752"/>
            <a:chOff x="0" y="0"/>
            <a:chExt cx="585216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">
                  <a:moveTo>
                    <a:pt x="0" y="0"/>
                  </a:moveTo>
                  <a:lnTo>
                    <a:pt x="384048" y="0"/>
                  </a:lnTo>
                  <a:lnTo>
                    <a:pt x="585216" y="201168"/>
                  </a:lnTo>
                  <a:lnTo>
                    <a:pt x="384048" y="402336"/>
                  </a:lnTo>
                  <a:lnTo>
                    <a:pt x="0" y="402336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553194" y="6377940"/>
            <a:ext cx="1303020" cy="1303020"/>
            <a:chOff x="0" y="0"/>
            <a:chExt cx="173736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B634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22587" y="6547333"/>
            <a:ext cx="964216" cy="964216"/>
            <a:chOff x="0" y="0"/>
            <a:chExt cx="1285621" cy="1285621"/>
          </a:xfrm>
        </p:grpSpPr>
        <p:sp>
          <p:nvSpPr>
            <p:cNvPr name="Freeform 48" id="48" descr="/home/claude/ecogas/icons/factory_white.png"/>
            <p:cNvSpPr/>
            <p:nvPr/>
          </p:nvSpPr>
          <p:spPr>
            <a:xfrm flipH="false" flipV="false" rot="0">
              <a:off x="0" y="0"/>
              <a:ext cx="1285621" cy="1285621"/>
            </a:xfrm>
            <a:custGeom>
              <a:avLst/>
              <a:gdLst/>
              <a:ahLst/>
              <a:cxnLst/>
              <a:rect r="r" b="b" t="t" l="l"/>
              <a:pathLst>
                <a:path h="1285621" w="1285621">
                  <a:moveTo>
                    <a:pt x="0" y="0"/>
                  </a:moveTo>
                  <a:lnTo>
                    <a:pt x="1285621" y="0"/>
                  </a:lnTo>
                  <a:lnTo>
                    <a:pt x="1285621" y="1285621"/>
                  </a:lnTo>
                  <a:lnTo>
                    <a:pt x="0" y="128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073134" y="7790688"/>
            <a:ext cx="2263140" cy="411480"/>
            <a:chOff x="0" y="0"/>
            <a:chExt cx="301752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17520" cy="548640"/>
            </a:xfrm>
            <a:custGeom>
              <a:avLst/>
              <a:gdLst/>
              <a:ahLst/>
              <a:cxnLst/>
              <a:rect r="r" b="b" t="t" l="l"/>
              <a:pathLst>
                <a:path h="5486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2" r="0" b="-57094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073134" y="7769257"/>
            <a:ext cx="2263140" cy="432911"/>
            <a:chOff x="0" y="0"/>
            <a:chExt cx="3017520" cy="57721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7520" cy="577215"/>
            </a:xfrm>
            <a:custGeom>
              <a:avLst/>
              <a:gdLst/>
              <a:ahLst/>
              <a:cxnLst/>
              <a:rect r="r" b="b" t="t" l="l"/>
              <a:pathLst>
                <a:path h="577215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62" r="0" b="-5186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301752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7F9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Digested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03102" y="6878574"/>
            <a:ext cx="438912" cy="301752"/>
            <a:chOff x="0" y="0"/>
            <a:chExt cx="585216" cy="4023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5216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">
                  <a:moveTo>
                    <a:pt x="0" y="0"/>
                  </a:moveTo>
                  <a:lnTo>
                    <a:pt x="384048" y="0"/>
                  </a:lnTo>
                  <a:lnTo>
                    <a:pt x="585216" y="201168"/>
                  </a:lnTo>
                  <a:lnTo>
                    <a:pt x="384048" y="402336"/>
                  </a:lnTo>
                  <a:lnTo>
                    <a:pt x="0" y="402336"/>
                  </a:lnTo>
                  <a:lnTo>
                    <a:pt x="201168" y="201168"/>
                  </a:ln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679174" y="6377940"/>
            <a:ext cx="1303020" cy="1303020"/>
            <a:chOff x="0" y="0"/>
            <a:chExt cx="1737360" cy="1737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848567" y="6547333"/>
            <a:ext cx="964216" cy="964216"/>
            <a:chOff x="0" y="0"/>
            <a:chExt cx="1285621" cy="1285621"/>
          </a:xfrm>
        </p:grpSpPr>
        <p:sp>
          <p:nvSpPr>
            <p:cNvPr name="Freeform 59" id="59" descr="/home/claude/ecogas/icons/flame_forest.png"/>
            <p:cNvSpPr/>
            <p:nvPr/>
          </p:nvSpPr>
          <p:spPr>
            <a:xfrm flipH="false" flipV="false" rot="0">
              <a:off x="0" y="0"/>
              <a:ext cx="1285621" cy="1285621"/>
            </a:xfrm>
            <a:custGeom>
              <a:avLst/>
              <a:gdLst/>
              <a:ahLst/>
              <a:cxnLst/>
              <a:rect r="r" b="b" t="t" l="l"/>
              <a:pathLst>
                <a:path h="1285621" w="1285621">
                  <a:moveTo>
                    <a:pt x="0" y="0"/>
                  </a:moveTo>
                  <a:lnTo>
                    <a:pt x="1285621" y="0"/>
                  </a:lnTo>
                  <a:lnTo>
                    <a:pt x="1285621" y="1285621"/>
                  </a:lnTo>
                  <a:lnTo>
                    <a:pt x="0" y="128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199114" y="7790688"/>
            <a:ext cx="2263140" cy="411480"/>
            <a:chOff x="0" y="0"/>
            <a:chExt cx="301752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17520" cy="548640"/>
            </a:xfrm>
            <a:custGeom>
              <a:avLst/>
              <a:gdLst/>
              <a:ahLst/>
              <a:cxnLst/>
              <a:rect r="r" b="b" t="t" l="l"/>
              <a:pathLst>
                <a:path h="5486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2" r="0" b="-5709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199114" y="7769257"/>
            <a:ext cx="2263140" cy="432911"/>
            <a:chOff x="0" y="0"/>
            <a:chExt cx="3017520" cy="57721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17520" cy="577215"/>
            </a:xfrm>
            <a:custGeom>
              <a:avLst/>
              <a:gdLst/>
              <a:ahLst/>
              <a:cxnLst/>
              <a:rect r="r" b="b" t="t" l="l"/>
              <a:pathLst>
                <a:path h="577215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62" r="0" b="-5186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301752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7F9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Biogas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0" y="9436608"/>
            <a:ext cx="18283428" cy="480060"/>
            <a:chOff x="0" y="0"/>
            <a:chExt cx="24377904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1585" r="0" b="-69158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331720"/>
            <a:ext cx="8023860" cy="5554980"/>
            <a:chOff x="0" y="0"/>
            <a:chExt cx="10698480" cy="7406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2811780"/>
            <a:ext cx="987552" cy="987552"/>
            <a:chOff x="0" y="0"/>
            <a:chExt cx="1316736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31398" y="2940158"/>
            <a:ext cx="730758" cy="730758"/>
            <a:chOff x="0" y="0"/>
            <a:chExt cx="974344" cy="974344"/>
          </a:xfrm>
        </p:grpSpPr>
        <p:sp>
          <p:nvSpPr>
            <p:cNvPr name="Freeform 22" id="22" descr="/home/claude/ecogas/icons/waste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70712" y="2098053"/>
            <a:ext cx="5966460" cy="2415007"/>
            <a:chOff x="0" y="0"/>
            <a:chExt cx="7955280" cy="32200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55280" cy="3219958"/>
            </a:xfrm>
            <a:custGeom>
              <a:avLst/>
              <a:gdLst/>
              <a:ahLst/>
              <a:cxnLst/>
              <a:rect r="r" b="b" t="t" l="l"/>
              <a:pathLst>
                <a:path h="3219958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19958"/>
                  </a:lnTo>
                  <a:lnTo>
                    <a:pt x="0" y="3219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68" t="0" r="-1968" b="-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570712" y="2090909"/>
            <a:ext cx="5966460" cy="2422150"/>
            <a:chOff x="0" y="0"/>
            <a:chExt cx="7955280" cy="32295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55280" cy="3229534"/>
            </a:xfrm>
            <a:custGeom>
              <a:avLst/>
              <a:gdLst/>
              <a:ahLst/>
              <a:cxnLst/>
              <a:rect r="r" b="b" t="t" l="l"/>
              <a:pathLst>
                <a:path h="3229534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29534"/>
                  </a:lnTo>
                  <a:lnTo>
                    <a:pt x="0" y="3229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6" t="0" r="-208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955280" cy="3239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Food Waste 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4134879"/>
            <a:ext cx="7508472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80M tonnes of food wasted every year (~₹1.55 lakh crore value lost).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Households alone account for ~60% of this waste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Almost none of this organic energy is ever recovered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26880" y="2331720"/>
            <a:ext cx="8023860" cy="5554980"/>
            <a:chOff x="0" y="0"/>
            <a:chExt cx="10698480" cy="7406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06940" y="2811780"/>
            <a:ext cx="987552" cy="987552"/>
            <a:chOff x="0" y="0"/>
            <a:chExt cx="1316736" cy="13167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935318" y="2940158"/>
            <a:ext cx="730758" cy="730758"/>
            <a:chOff x="0" y="0"/>
            <a:chExt cx="974344" cy="974344"/>
          </a:xfrm>
        </p:grpSpPr>
        <p:sp>
          <p:nvSpPr>
            <p:cNvPr name="Freeform 34" id="34" descr="/home/claude/ecogas/icons/lpg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12630" y="4134879"/>
            <a:ext cx="7452360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India now imports nearly 60% of its LPG requirement — up from ~46% a decade ago</a:t>
            </a:r>
          </a:p>
          <a:p>
            <a:pPr algn="l" marL="613791" indent="-204597" lvl="2">
              <a:lnSpc>
                <a:spcPts val="3487"/>
              </a:lnSpc>
              <a:buFont typeface="Arial"/>
              <a:buChar char="⚬"/>
            </a:pPr>
            <a:r>
              <a:rPr lang="en-US" sz="290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33+ crore families depend on imported fuel</a:t>
            </a:r>
          </a:p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Rural households suffer most from price hikes and shortages.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30664" y="3038846"/>
            <a:ext cx="56449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12332A"/>
                </a:solidFill>
                <a:latin typeface="Cambria Bold"/>
                <a:ea typeface="Cambria Bold"/>
                <a:cs typeface="Cambria Bold"/>
                <a:sym typeface="Cambria Bold"/>
              </a:rPr>
              <a:t>High Demand, Rising Imports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0481" y="1413211"/>
            <a:ext cx="8230195" cy="53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3499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Massive Food Waste, Rising LPG Imports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BIO-WASTE SOURCES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331720"/>
            <a:ext cx="8023860" cy="5554980"/>
            <a:chOff x="0" y="0"/>
            <a:chExt cx="10698480" cy="7406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2811780"/>
            <a:ext cx="987552" cy="987552"/>
            <a:chOff x="0" y="0"/>
            <a:chExt cx="1316736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31398" y="2940158"/>
            <a:ext cx="730758" cy="730758"/>
            <a:chOff x="0" y="0"/>
            <a:chExt cx="974344" cy="974344"/>
          </a:xfrm>
        </p:grpSpPr>
        <p:sp>
          <p:nvSpPr>
            <p:cNvPr name="Freeform 22" id="22" descr="/home/claude/ecogas/icons/waste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70712" y="2098053"/>
            <a:ext cx="5966460" cy="2415007"/>
            <a:chOff x="0" y="0"/>
            <a:chExt cx="7955280" cy="32200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55280" cy="3219958"/>
            </a:xfrm>
            <a:custGeom>
              <a:avLst/>
              <a:gdLst/>
              <a:ahLst/>
              <a:cxnLst/>
              <a:rect r="r" b="b" t="t" l="l"/>
              <a:pathLst>
                <a:path h="3219958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19958"/>
                  </a:lnTo>
                  <a:lnTo>
                    <a:pt x="0" y="3219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68" t="0" r="-1968" b="-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570712" y="2090909"/>
            <a:ext cx="5966460" cy="2422150"/>
            <a:chOff x="0" y="0"/>
            <a:chExt cx="7955280" cy="32295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55280" cy="3229534"/>
            </a:xfrm>
            <a:custGeom>
              <a:avLst/>
              <a:gdLst/>
              <a:ahLst/>
              <a:cxnLst/>
              <a:rect r="r" b="b" t="t" l="l"/>
              <a:pathLst>
                <a:path h="3229534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29534"/>
                  </a:lnTo>
                  <a:lnTo>
                    <a:pt x="0" y="3229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6" t="0" r="-208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955280" cy="3239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Daily Waste Produced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4134879"/>
            <a:ext cx="7508472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 college hostel mess wastes 50–100 kg of food daily.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Canteens throw away food after every meal service.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Hotels generate heavy kitchen waste from daily events.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26880" y="2331720"/>
            <a:ext cx="8023860" cy="5554980"/>
            <a:chOff x="0" y="0"/>
            <a:chExt cx="10698480" cy="7406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06940" y="2811780"/>
            <a:ext cx="987552" cy="987552"/>
            <a:chOff x="0" y="0"/>
            <a:chExt cx="1316736" cy="13167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935318" y="2940158"/>
            <a:ext cx="730758" cy="730758"/>
            <a:chOff x="0" y="0"/>
            <a:chExt cx="974344" cy="974344"/>
          </a:xfrm>
        </p:grpSpPr>
        <p:sp>
          <p:nvSpPr>
            <p:cNvPr name="Freeform 34" id="34" descr="/home/claude/ecogas/icons/lpg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12630" y="4134879"/>
            <a:ext cx="7452360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Most of this waste ends up in open landfills.</a:t>
            </a:r>
          </a:p>
          <a:p>
            <a:pPr algn="l" marL="613791" indent="-204597" lvl="2">
              <a:lnSpc>
                <a:spcPts val="3487"/>
              </a:lnSpc>
              <a:buFont typeface="Arial"/>
              <a:buChar char="⚬"/>
            </a:pPr>
            <a:r>
              <a:rPr lang="en-US" sz="290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Rotting food waste releases harmful methane gas.</a:t>
            </a:r>
          </a:p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This same waste can be converted into clean biogas.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30664" y="3038846"/>
            <a:ext cx="56449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12332A"/>
                </a:solidFill>
                <a:latin typeface="Cambria Bold"/>
                <a:ea typeface="Cambria Bold"/>
                <a:cs typeface="Cambria Bold"/>
                <a:sym typeface="Cambria Bold"/>
              </a:rPr>
              <a:t>Where It All Goes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1302069"/>
            <a:ext cx="8937427" cy="53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</a:pPr>
            <a:r>
              <a:rPr lang="en-US" sz="3499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Hostels, Canteens &amp; Hotels Waste Every Day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 COMPOSITION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331720"/>
            <a:ext cx="8023860" cy="5554980"/>
            <a:chOff x="0" y="0"/>
            <a:chExt cx="10698480" cy="7406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2811780"/>
            <a:ext cx="987552" cy="987552"/>
            <a:chOff x="0" y="0"/>
            <a:chExt cx="1316736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31398" y="2940158"/>
            <a:ext cx="730758" cy="730758"/>
            <a:chOff x="0" y="0"/>
            <a:chExt cx="974344" cy="974344"/>
          </a:xfrm>
        </p:grpSpPr>
        <p:sp>
          <p:nvSpPr>
            <p:cNvPr name="Freeform 22" id="22" descr="/home/claude/ecogas/icons/waste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70712" y="2098053"/>
            <a:ext cx="5966460" cy="2415007"/>
            <a:chOff x="0" y="0"/>
            <a:chExt cx="7955280" cy="32200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55280" cy="3219958"/>
            </a:xfrm>
            <a:custGeom>
              <a:avLst/>
              <a:gdLst/>
              <a:ahLst/>
              <a:cxnLst/>
              <a:rect r="r" b="b" t="t" l="l"/>
              <a:pathLst>
                <a:path h="3219958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19958"/>
                  </a:lnTo>
                  <a:lnTo>
                    <a:pt x="0" y="3219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68" t="0" r="-1968" b="-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570712" y="2090909"/>
            <a:ext cx="5966460" cy="2422150"/>
            <a:chOff x="0" y="0"/>
            <a:chExt cx="7955280" cy="32295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55280" cy="3229534"/>
            </a:xfrm>
            <a:custGeom>
              <a:avLst/>
              <a:gdLst/>
              <a:ahLst/>
              <a:cxnLst/>
              <a:rect r="r" b="b" t="t" l="l"/>
              <a:pathLst>
                <a:path h="3229534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29534"/>
                  </a:lnTo>
                  <a:lnTo>
                    <a:pt x="0" y="3229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6" t="0" r="-208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955280" cy="3239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Kitchen Waste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4134879"/>
            <a:ext cx="7508472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Vegetable peels and leftover cooked food.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Rice, dal and grain waste from every meal.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Stale bread and bakery leftovers.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26880" y="2331720"/>
            <a:ext cx="8023860" cy="5554980"/>
            <a:chOff x="0" y="0"/>
            <a:chExt cx="10698480" cy="7406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06940" y="2811780"/>
            <a:ext cx="987552" cy="987552"/>
            <a:chOff x="0" y="0"/>
            <a:chExt cx="1316736" cy="13167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935318" y="2940158"/>
            <a:ext cx="730758" cy="730758"/>
            <a:chOff x="0" y="0"/>
            <a:chExt cx="974344" cy="974344"/>
          </a:xfrm>
        </p:grpSpPr>
        <p:sp>
          <p:nvSpPr>
            <p:cNvPr name="Freeform 34" id="34" descr="/home/claude/ecogas/icons/lpg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12630" y="4134879"/>
            <a:ext cx="7452360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Used cooking oil from hotel kitchens.</a:t>
            </a:r>
          </a:p>
          <a:p>
            <a:pPr algn="l" marL="613791" indent="-204597" lvl="2">
              <a:lnSpc>
                <a:spcPts val="3487"/>
              </a:lnSpc>
              <a:buFont typeface="Arial"/>
              <a:buChar char="⚬"/>
            </a:pPr>
            <a:r>
              <a:rPr lang="en-US" sz="290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Tea and coffee waste from canteens.</a:t>
            </a:r>
          </a:p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Packaging waste from food deliveries.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30664" y="3038846"/>
            <a:ext cx="56449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12332A"/>
                </a:solidFill>
                <a:latin typeface="Cambria Bold"/>
                <a:ea typeface="Cambria Bold"/>
                <a:cs typeface="Cambria Bold"/>
                <a:sym typeface="Cambria Bold"/>
              </a:rPr>
              <a:t>Non-Kitchen Waste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105" y="1281817"/>
            <a:ext cx="908161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8"/>
              </a:lnSpc>
            </a:pPr>
            <a:r>
              <a:rPr lang="en-US" sz="3899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What's Inside Hostel &amp; Canteen Bins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COLLECTION PROCESS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3030200" cy="1028700"/>
            <a:chOff x="0" y="0"/>
            <a:chExt cx="17373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638" r="0" b="-1966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80408"/>
            <a:ext cx="13030200" cy="1035844"/>
            <a:chOff x="0" y="0"/>
            <a:chExt cx="173736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108" r="0" b="-195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Hostel Bins to the Biogas Plant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6420">
            <a:off x="1465831" y="3885247"/>
            <a:ext cx="15351766" cy="0"/>
          </a:xfrm>
          <a:prstGeom prst="line">
            <a:avLst/>
          </a:prstGeom>
          <a:ln cap="rnd" w="19050">
            <a:solidFill>
              <a:srgbClr val="A9C9A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523619" y="3223260"/>
            <a:ext cx="1371600" cy="1371600"/>
            <a:chOff x="0" y="0"/>
            <a:chExt cx="182880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01927" y="3401568"/>
            <a:ext cx="1014984" cy="1014984"/>
            <a:chOff x="0" y="0"/>
            <a:chExt cx="1353312" cy="1353312"/>
          </a:xfrm>
        </p:grpSpPr>
        <p:sp>
          <p:nvSpPr>
            <p:cNvPr name="Freeform 26" id="26" descr="/home/claude/ecogas/icons/waste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6399" y="4759452"/>
            <a:ext cx="2606040" cy="411480"/>
            <a:chOff x="0" y="0"/>
            <a:chExt cx="34747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06399" y="4752308"/>
            <a:ext cx="2606040" cy="418624"/>
            <a:chOff x="0" y="0"/>
            <a:chExt cx="3474720" cy="558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Segregation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0659" y="5198364"/>
            <a:ext cx="3017520" cy="822960"/>
            <a:chOff x="0" y="0"/>
            <a:chExt cx="402336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00659" y="5169789"/>
            <a:ext cx="3017520" cy="851535"/>
            <a:chOff x="0" y="0"/>
            <a:chExt cx="4023360" cy="11353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Wet waste separated in hostel mess bins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296537" y="3223260"/>
            <a:ext cx="1371600" cy="1371600"/>
            <a:chOff x="0" y="0"/>
            <a:chExt cx="182880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474845" y="3401568"/>
            <a:ext cx="1014984" cy="1014984"/>
            <a:chOff x="0" y="0"/>
            <a:chExt cx="1353312" cy="1353312"/>
          </a:xfrm>
        </p:grpSpPr>
        <p:sp>
          <p:nvSpPr>
            <p:cNvPr name="Freeform 40" id="40" descr="/home/claude/ecogas/icons/filter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79317" y="4759452"/>
            <a:ext cx="2606040" cy="411480"/>
            <a:chOff x="0" y="0"/>
            <a:chExt cx="34747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679317" y="4752308"/>
            <a:ext cx="2606040" cy="418624"/>
            <a:chOff x="0" y="0"/>
            <a:chExt cx="3474720" cy="5581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Quality Check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473577" y="5198364"/>
            <a:ext cx="3017520" cy="822960"/>
            <a:chOff x="0" y="0"/>
            <a:chExt cx="402336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473577" y="5169789"/>
            <a:ext cx="3017520" cy="851535"/>
            <a:chOff x="0" y="0"/>
            <a:chExt cx="4023360" cy="11353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Non-food items filtered out before pickup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069455" y="3223260"/>
            <a:ext cx="1371600" cy="1371600"/>
            <a:chOff x="0" y="0"/>
            <a:chExt cx="182880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247763" y="3401568"/>
            <a:ext cx="1014984" cy="1014984"/>
            <a:chOff x="0" y="0"/>
            <a:chExt cx="1353312" cy="1353312"/>
          </a:xfrm>
        </p:grpSpPr>
        <p:sp>
          <p:nvSpPr>
            <p:cNvPr name="Freeform 54" id="54" descr="/home/claude/ecogas/icons/factory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452235" y="4759452"/>
            <a:ext cx="2606040" cy="411480"/>
            <a:chOff x="0" y="0"/>
            <a:chExt cx="347472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452235" y="4752308"/>
            <a:ext cx="2606040" cy="418624"/>
            <a:chOff x="0" y="0"/>
            <a:chExt cx="3474720" cy="55816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Depot Transfer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46495" y="5198364"/>
            <a:ext cx="3017520" cy="822960"/>
            <a:chOff x="0" y="0"/>
            <a:chExt cx="402336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246495" y="5169789"/>
            <a:ext cx="3017520" cy="851535"/>
            <a:chOff x="0" y="0"/>
            <a:chExt cx="4023360" cy="11353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Waste moved to the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campus collection depot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42373" y="3223260"/>
            <a:ext cx="1371600" cy="1371600"/>
            <a:chOff x="0" y="0"/>
            <a:chExt cx="1828800" cy="182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020681" y="3401568"/>
            <a:ext cx="1014984" cy="1014984"/>
            <a:chOff x="0" y="0"/>
            <a:chExt cx="1353312" cy="1353312"/>
          </a:xfrm>
        </p:grpSpPr>
        <p:sp>
          <p:nvSpPr>
            <p:cNvPr name="Freeform 68" id="68" descr="/home/claude/ecogas/icons/flame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225153" y="4759452"/>
            <a:ext cx="2606040" cy="411480"/>
            <a:chOff x="0" y="0"/>
            <a:chExt cx="347472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225153" y="4752308"/>
            <a:ext cx="2606040" cy="418624"/>
            <a:chOff x="0" y="0"/>
            <a:chExt cx="3474720" cy="55816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Digestion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019413" y="5198364"/>
            <a:ext cx="3017520" cy="822960"/>
            <a:chOff x="0" y="0"/>
            <a:chExt cx="402336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019413" y="5169789"/>
            <a:ext cx="3017520" cy="851535"/>
            <a:chOff x="0" y="0"/>
            <a:chExt cx="4023360" cy="11353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Breaks down in the digester for 20-30 days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615291" y="3223260"/>
            <a:ext cx="1371600" cy="1371600"/>
            <a:chOff x="0" y="0"/>
            <a:chExt cx="1828800" cy="1828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793599" y="3401568"/>
            <a:ext cx="1014984" cy="1014984"/>
            <a:chOff x="0" y="0"/>
            <a:chExt cx="1353312" cy="1353312"/>
          </a:xfrm>
        </p:grpSpPr>
        <p:sp>
          <p:nvSpPr>
            <p:cNvPr name="Freeform 82" id="82" descr="/home/claude/ecogas/icons/droplet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998071" y="4759452"/>
            <a:ext cx="2606040" cy="411480"/>
            <a:chOff x="0" y="0"/>
            <a:chExt cx="347472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998071" y="4752308"/>
            <a:ext cx="2606040" cy="418624"/>
            <a:chOff x="0" y="0"/>
            <a:chExt cx="3474720" cy="55816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Purification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792331" y="5198364"/>
            <a:ext cx="3017520" cy="822960"/>
            <a:chOff x="0" y="0"/>
            <a:chExt cx="4023360" cy="10972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792331" y="5169789"/>
            <a:ext cx="3017520" cy="851535"/>
            <a:chOff x="0" y="0"/>
            <a:chExt cx="4023360" cy="11353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Moisture and impurities removed from gas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388209" y="3223260"/>
            <a:ext cx="1371600" cy="1371600"/>
            <a:chOff x="0" y="0"/>
            <a:chExt cx="1828800" cy="1828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5566517" y="3401568"/>
            <a:ext cx="1014984" cy="1014984"/>
            <a:chOff x="0" y="0"/>
            <a:chExt cx="1353312" cy="1353312"/>
          </a:xfrm>
        </p:grpSpPr>
        <p:sp>
          <p:nvSpPr>
            <p:cNvPr name="Freeform 96" id="96" descr="/home/claude/ecogas/icons/bolt_forest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770989" y="4759452"/>
            <a:ext cx="2606040" cy="411480"/>
            <a:chOff x="0" y="0"/>
            <a:chExt cx="347472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4770989" y="4752308"/>
            <a:ext cx="2606040" cy="418624"/>
            <a:chOff x="0" y="0"/>
            <a:chExt cx="3474720" cy="55816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Biogas Output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565249" y="5198364"/>
            <a:ext cx="3017520" cy="822960"/>
            <a:chOff x="0" y="0"/>
            <a:chExt cx="4023360" cy="10972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565249" y="5169789"/>
            <a:ext cx="3017520" cy="851535"/>
            <a:chOff x="0" y="0"/>
            <a:chExt cx="4023360" cy="11353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gas piped to kitchen stoves</a:t>
              </a:r>
            </a:p>
          </p:txBody>
        </p:sp>
      </p:grpSp>
      <p:sp>
        <p:nvSpPr>
          <p:cNvPr name="AutoShape 107" id="107"/>
          <p:cNvSpPr/>
          <p:nvPr/>
        </p:nvSpPr>
        <p:spPr>
          <a:xfrm rot="34320">
            <a:off x="6800612" y="6667500"/>
            <a:ext cx="1909286" cy="0"/>
          </a:xfrm>
          <a:prstGeom prst="line">
            <a:avLst/>
          </a:prstGeom>
          <a:ln cap="rnd" w="19050">
            <a:solidFill>
              <a:srgbClr val="C982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8" id="108"/>
          <p:cNvGrpSpPr/>
          <p:nvPr/>
        </p:nvGrpSpPr>
        <p:grpSpPr>
          <a:xfrm rot="5400000">
            <a:off x="7604379" y="7228332"/>
            <a:ext cx="301752" cy="329184"/>
            <a:chOff x="0" y="0"/>
            <a:chExt cx="402336" cy="43891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02336" cy="438912"/>
            </a:xfrm>
            <a:custGeom>
              <a:avLst/>
              <a:gdLst/>
              <a:ahLst/>
              <a:cxnLst/>
              <a:rect r="r" b="b" t="t" l="l"/>
              <a:pathLst>
                <a:path h="438912" w="402336">
                  <a:moveTo>
                    <a:pt x="0" y="0"/>
                  </a:moveTo>
                  <a:lnTo>
                    <a:pt x="201168" y="0"/>
                  </a:lnTo>
                  <a:lnTo>
                    <a:pt x="402336" y="219456"/>
                  </a:lnTo>
                  <a:lnTo>
                    <a:pt x="201168" y="438912"/>
                  </a:lnTo>
                  <a:lnTo>
                    <a:pt x="0" y="438912"/>
                  </a:lnTo>
                  <a:lnTo>
                    <a:pt x="201168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4600575" y="7612380"/>
            <a:ext cx="6309360" cy="1508760"/>
            <a:chOff x="0" y="0"/>
            <a:chExt cx="8412480" cy="2011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412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412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93024" y="0"/>
                  </a:lnTo>
                  <a:cubicBezTo>
                    <a:pt x="8314182" y="0"/>
                    <a:pt x="8412480" y="98298"/>
                    <a:pt x="8412480" y="219456"/>
                  </a:cubicBezTo>
                  <a:lnTo>
                    <a:pt x="8412480" y="1792224"/>
                  </a:lnTo>
                  <a:cubicBezTo>
                    <a:pt x="8412480" y="1913382"/>
                    <a:pt x="8314182" y="2011680"/>
                    <a:pt x="8193024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902327" y="7914132"/>
            <a:ext cx="905256" cy="905256"/>
            <a:chOff x="0" y="0"/>
            <a:chExt cx="1207008" cy="120700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5020008" y="8031813"/>
            <a:ext cx="669893" cy="669893"/>
            <a:chOff x="0" y="0"/>
            <a:chExt cx="893191" cy="893191"/>
          </a:xfrm>
        </p:grpSpPr>
        <p:sp>
          <p:nvSpPr>
            <p:cNvPr name="Freeform 115" id="115" descr="/home/claude/ecogas/icons/seedling_white.png"/>
            <p:cNvSpPr/>
            <p:nvPr/>
          </p:nvSpPr>
          <p:spPr>
            <a:xfrm flipH="false" flipV="false" rot="0">
              <a:off x="0" y="0"/>
              <a:ext cx="893191" cy="893191"/>
            </a:xfrm>
            <a:custGeom>
              <a:avLst/>
              <a:gdLst/>
              <a:ahLst/>
              <a:cxnLst/>
              <a:rect r="r" b="b" t="t" l="l"/>
              <a:pathLst>
                <a:path h="893191" w="893191">
                  <a:moveTo>
                    <a:pt x="0" y="0"/>
                  </a:moveTo>
                  <a:lnTo>
                    <a:pt x="893191" y="0"/>
                  </a:lnTo>
                  <a:lnTo>
                    <a:pt x="893191" y="893191"/>
                  </a:lnTo>
                  <a:lnTo>
                    <a:pt x="0" y="893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040755" y="7831836"/>
            <a:ext cx="4663440" cy="466344"/>
            <a:chOff x="0" y="0"/>
            <a:chExt cx="6217920" cy="6217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217920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6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6040755" y="7817549"/>
            <a:ext cx="4663440" cy="480632"/>
            <a:chOff x="0" y="0"/>
            <a:chExt cx="6217920" cy="64084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17920" cy="640842"/>
            </a:xfrm>
            <a:custGeom>
              <a:avLst/>
              <a:gdLst/>
              <a:ahLst/>
              <a:cxnLst/>
              <a:rect r="r" b="b" t="t" l="l"/>
              <a:pathLst>
                <a:path h="64084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58" r="0" b="-139058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62179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Same-Day Collection, Zero Waste Left Behind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6040755" y="8298180"/>
            <a:ext cx="4663440" cy="754380"/>
            <a:chOff x="0" y="0"/>
            <a:chExt cx="6217920" cy="1005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68" r="0" b="-70369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6040755" y="8283893"/>
            <a:ext cx="4663440" cy="768668"/>
            <a:chOff x="0" y="0"/>
            <a:chExt cx="6217920" cy="102489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17920" cy="1024890"/>
            </a:xfrm>
            <a:custGeom>
              <a:avLst/>
              <a:gdLst/>
              <a:ahLst/>
              <a:cxnLst/>
              <a:rect r="r" b="b" t="t" l="l"/>
              <a:pathLst>
                <a:path h="102489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214" r="0" b="-6821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62179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Hostel and canteen waste is collected and processed within 24 hours, every day.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PLATFORM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3030200" cy="1028700"/>
            <a:chOff x="0" y="0"/>
            <a:chExt cx="17373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638" r="0" b="-1966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80408"/>
            <a:ext cx="13030200" cy="1035844"/>
            <a:chOff x="0" y="0"/>
            <a:chExt cx="173736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108" r="0" b="-195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One App for Every Step of the Journey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2263140"/>
            <a:ext cx="4251960" cy="7063740"/>
            <a:chOff x="0" y="0"/>
            <a:chExt cx="5669280" cy="9418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9280" cy="9418320"/>
            </a:xfrm>
            <a:custGeom>
              <a:avLst/>
              <a:gdLst/>
              <a:ahLst/>
              <a:cxnLst/>
              <a:rect r="r" b="b" t="t" l="l"/>
              <a:pathLst>
                <a:path h="9418320" w="5669280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5157216" y="0"/>
                  </a:lnTo>
                  <a:cubicBezTo>
                    <a:pt x="5440045" y="0"/>
                    <a:pt x="5669280" y="229235"/>
                    <a:pt x="5669280" y="512064"/>
                  </a:cubicBezTo>
                  <a:lnTo>
                    <a:pt x="5669280" y="8906256"/>
                  </a:lnTo>
                  <a:cubicBezTo>
                    <a:pt x="5669280" y="9189086"/>
                    <a:pt x="5440045" y="9418320"/>
                    <a:pt x="5157216" y="9418320"/>
                  </a:cubicBezTo>
                  <a:lnTo>
                    <a:pt x="512064" y="9418320"/>
                  </a:lnTo>
                  <a:cubicBezTo>
                    <a:pt x="229235" y="9418320"/>
                    <a:pt x="0" y="9189085"/>
                    <a:pt x="0" y="8906256"/>
                  </a:cubicBezTo>
                  <a:close/>
                </a:path>
              </a:pathLst>
            </a:custGeom>
            <a:solidFill>
              <a:srgbClr val="12332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52144" y="2482596"/>
            <a:ext cx="3867912" cy="6624828"/>
            <a:chOff x="0" y="0"/>
            <a:chExt cx="5157216" cy="88331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7216" cy="8833103"/>
            </a:xfrm>
            <a:custGeom>
              <a:avLst/>
              <a:gdLst/>
              <a:ahLst/>
              <a:cxnLst/>
              <a:rect r="r" b="b" t="t" l="l"/>
              <a:pathLst>
                <a:path h="8833103" w="5157216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4828032" y="0"/>
                  </a:lnTo>
                  <a:cubicBezTo>
                    <a:pt x="5009896" y="0"/>
                    <a:pt x="5157216" y="147320"/>
                    <a:pt x="5157216" y="329184"/>
                  </a:cubicBezTo>
                  <a:lnTo>
                    <a:pt x="5157216" y="8503920"/>
                  </a:lnTo>
                  <a:cubicBezTo>
                    <a:pt x="5157216" y="8685784"/>
                    <a:pt x="5009896" y="8833103"/>
                    <a:pt x="4828032" y="8833103"/>
                  </a:cubicBezTo>
                  <a:lnTo>
                    <a:pt x="329184" y="8833103"/>
                  </a:lnTo>
                  <a:cubicBezTo>
                    <a:pt x="147320" y="8833104"/>
                    <a:pt x="0" y="8685784"/>
                    <a:pt x="0" y="8503920"/>
                  </a:cubicBezTo>
                  <a:close/>
                </a:path>
              </a:pathLst>
            </a:custGeom>
            <a:solidFill>
              <a:srgbClr val="F7F9F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26464" y="2756916"/>
            <a:ext cx="3319272" cy="411480"/>
            <a:chOff x="0" y="0"/>
            <a:chExt cx="4425696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25696" cy="548640"/>
            </a:xfrm>
            <a:custGeom>
              <a:avLst/>
              <a:gdLst/>
              <a:ahLst/>
              <a:cxnLst/>
              <a:rect r="r" b="b" t="t" l="l"/>
              <a:pathLst>
                <a:path h="54864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069" r="0" b="-10706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26464" y="2749772"/>
            <a:ext cx="3319272" cy="418624"/>
            <a:chOff x="0" y="0"/>
            <a:chExt cx="4425696" cy="5581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25696" cy="558165"/>
            </a:xfrm>
            <a:custGeom>
              <a:avLst/>
              <a:gdLst/>
              <a:ahLst/>
              <a:cxnLst/>
              <a:rect r="r" b="b" t="t" l="l"/>
              <a:pathLst>
                <a:path h="558165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97" r="0" b="-10449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425696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My Dashboard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26464" y="3332988"/>
            <a:ext cx="3319272" cy="713232"/>
            <a:chOff x="0" y="0"/>
            <a:chExt cx="4425696" cy="9509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25696" cy="950976"/>
            </a:xfrm>
            <a:custGeom>
              <a:avLst/>
              <a:gdLst/>
              <a:ahLst/>
              <a:cxnLst/>
              <a:rect r="r" b="b" t="t" l="l"/>
              <a:pathLst>
                <a:path h="950976" w="44256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279392" y="0"/>
                  </a:lnTo>
                  <a:cubicBezTo>
                    <a:pt x="4360164" y="0"/>
                    <a:pt x="4425696" y="65532"/>
                    <a:pt x="4425696" y="146304"/>
                  </a:cubicBezTo>
                  <a:lnTo>
                    <a:pt x="4425696" y="804672"/>
                  </a:lnTo>
                  <a:cubicBezTo>
                    <a:pt x="4425696" y="885444"/>
                    <a:pt x="4360164" y="950976"/>
                    <a:pt x="4279392" y="950976"/>
                  </a:cubicBezTo>
                  <a:lnTo>
                    <a:pt x="146304" y="950976"/>
                  </a:lnTo>
                  <a:cubicBezTo>
                    <a:pt x="65532" y="950976"/>
                    <a:pt x="0" y="885444"/>
                    <a:pt x="0" y="8046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32204" y="3332988"/>
            <a:ext cx="1371600" cy="713232"/>
            <a:chOff x="0" y="0"/>
            <a:chExt cx="1828800" cy="9509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" cy="950976"/>
            </a:xfrm>
            <a:custGeom>
              <a:avLst/>
              <a:gdLst/>
              <a:ahLst/>
              <a:cxnLst/>
              <a:rect r="r" b="b" t="t" l="l"/>
              <a:pathLst>
                <a:path h="95097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4" t="0" r="-16763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32204" y="3325844"/>
            <a:ext cx="1371600" cy="720376"/>
            <a:chOff x="0" y="0"/>
            <a:chExt cx="1828800" cy="96050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" cy="960501"/>
            </a:xfrm>
            <a:custGeom>
              <a:avLst/>
              <a:gdLst/>
              <a:ahLst/>
              <a:cxnLst/>
              <a:rect r="r" b="b" t="t" l="l"/>
              <a:pathLst>
                <a:path h="960501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60501"/>
                  </a:lnTo>
                  <a:lnTo>
                    <a:pt x="0" y="960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386" t="0" r="-1738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828800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1B43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247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03804" y="3332988"/>
            <a:ext cx="1673352" cy="713232"/>
            <a:chOff x="0" y="0"/>
            <a:chExt cx="2231136" cy="9509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31136" cy="950976"/>
            </a:xfrm>
            <a:custGeom>
              <a:avLst/>
              <a:gdLst/>
              <a:ahLst/>
              <a:cxnLst/>
              <a:rect r="r" b="b" t="t" l="l"/>
              <a:pathLst>
                <a:path h="95097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25" t="0" r="-472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003804" y="3318700"/>
            <a:ext cx="1673352" cy="727520"/>
            <a:chOff x="0" y="0"/>
            <a:chExt cx="2231136" cy="9700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31136" cy="970026"/>
            </a:xfrm>
            <a:custGeom>
              <a:avLst/>
              <a:gdLst/>
              <a:ahLst/>
              <a:cxnLst/>
              <a:rect r="r" b="b" t="t" l="l"/>
              <a:pathLst>
                <a:path h="97002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970026"/>
                  </a:lnTo>
                  <a:lnTo>
                    <a:pt x="0" y="970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2" t="0" r="-57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231136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kg Waste Sent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26464" y="4773740"/>
            <a:ext cx="3319272" cy="713232"/>
            <a:chOff x="0" y="0"/>
            <a:chExt cx="4425696" cy="9509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25696" cy="950976"/>
            </a:xfrm>
            <a:custGeom>
              <a:avLst/>
              <a:gdLst/>
              <a:ahLst/>
              <a:cxnLst/>
              <a:rect r="r" b="b" t="t" l="l"/>
              <a:pathLst>
                <a:path h="950976" w="44256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279392" y="0"/>
                  </a:lnTo>
                  <a:cubicBezTo>
                    <a:pt x="4360164" y="0"/>
                    <a:pt x="4425696" y="65532"/>
                    <a:pt x="4425696" y="146304"/>
                  </a:cubicBezTo>
                  <a:lnTo>
                    <a:pt x="4425696" y="804672"/>
                  </a:lnTo>
                  <a:cubicBezTo>
                    <a:pt x="4425696" y="885444"/>
                    <a:pt x="4360164" y="950976"/>
                    <a:pt x="4279392" y="950976"/>
                  </a:cubicBezTo>
                  <a:lnTo>
                    <a:pt x="146304" y="950976"/>
                  </a:lnTo>
                  <a:cubicBezTo>
                    <a:pt x="65532" y="950976"/>
                    <a:pt x="0" y="885444"/>
                    <a:pt x="0" y="8046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32204" y="4789170"/>
            <a:ext cx="1371600" cy="713232"/>
            <a:chOff x="0" y="0"/>
            <a:chExt cx="1828800" cy="9509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0" cy="950976"/>
            </a:xfrm>
            <a:custGeom>
              <a:avLst/>
              <a:gdLst/>
              <a:ahLst/>
              <a:cxnLst/>
              <a:rect r="r" b="b" t="t" l="l"/>
              <a:pathLst>
                <a:path h="95097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64" t="0" r="-16763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32204" y="4782026"/>
            <a:ext cx="1371600" cy="720376"/>
            <a:chOff x="0" y="0"/>
            <a:chExt cx="1828800" cy="96050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0" cy="960501"/>
            </a:xfrm>
            <a:custGeom>
              <a:avLst/>
              <a:gdLst/>
              <a:ahLst/>
              <a:cxnLst/>
              <a:rect r="r" b="b" t="t" l="l"/>
              <a:pathLst>
                <a:path h="960501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60501"/>
                  </a:lnTo>
                  <a:lnTo>
                    <a:pt x="0" y="960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386" t="0" r="-1738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828800" cy="970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1B43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247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003804" y="4690300"/>
            <a:ext cx="1673352" cy="713232"/>
            <a:chOff x="0" y="0"/>
            <a:chExt cx="2231136" cy="9509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31136" cy="950976"/>
            </a:xfrm>
            <a:custGeom>
              <a:avLst/>
              <a:gdLst/>
              <a:ahLst/>
              <a:cxnLst/>
              <a:rect r="r" b="b" t="t" l="l"/>
              <a:pathLst>
                <a:path h="95097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25" t="0" r="-4724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003804" y="4676013"/>
            <a:ext cx="1673352" cy="727520"/>
            <a:chOff x="0" y="0"/>
            <a:chExt cx="2231136" cy="97002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31136" cy="970026"/>
            </a:xfrm>
            <a:custGeom>
              <a:avLst/>
              <a:gdLst/>
              <a:ahLst/>
              <a:cxnLst/>
              <a:rect r="r" b="b" t="t" l="l"/>
              <a:pathLst>
                <a:path h="970026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970026"/>
                  </a:lnTo>
                  <a:lnTo>
                    <a:pt x="0" y="970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2" t="0" r="-57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231136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EcoPoints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26464" y="5897870"/>
            <a:ext cx="3319272" cy="466354"/>
            <a:chOff x="0" y="0"/>
            <a:chExt cx="4425696" cy="62180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425696" cy="621792"/>
            </a:xfrm>
            <a:custGeom>
              <a:avLst/>
              <a:gdLst/>
              <a:ahLst/>
              <a:cxnLst/>
              <a:rect r="r" b="b" t="t" l="l"/>
              <a:pathLst>
                <a:path h="621792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590" r="0" b="-8859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26464" y="5869295"/>
            <a:ext cx="3319272" cy="494929"/>
            <a:chOff x="0" y="0"/>
            <a:chExt cx="4425696" cy="65990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425696" cy="659899"/>
            </a:xfrm>
            <a:custGeom>
              <a:avLst/>
              <a:gdLst/>
              <a:ahLst/>
              <a:cxnLst/>
              <a:rect r="r" b="b" t="t" l="l"/>
              <a:pathLst>
                <a:path h="659899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659899"/>
                  </a:lnTo>
                  <a:lnTo>
                    <a:pt x="0" y="659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678" r="0" b="-8067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425696" cy="698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PICKUP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26464" y="6391656"/>
            <a:ext cx="3319272" cy="1165860"/>
            <a:chOff x="0" y="0"/>
            <a:chExt cx="4425696" cy="15544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25696" cy="1554480"/>
            </a:xfrm>
            <a:custGeom>
              <a:avLst/>
              <a:gdLst/>
              <a:ahLst/>
              <a:cxnLst/>
              <a:rect r="r" b="b" t="t" l="l"/>
              <a:pathLst>
                <a:path h="1554480" w="44256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279392" y="0"/>
                  </a:lnTo>
                  <a:cubicBezTo>
                    <a:pt x="4360164" y="0"/>
                    <a:pt x="4425696" y="65532"/>
                    <a:pt x="4425696" y="146304"/>
                  </a:cubicBezTo>
                  <a:lnTo>
                    <a:pt x="4425696" y="1408176"/>
                  </a:lnTo>
                  <a:cubicBezTo>
                    <a:pt x="4425696" y="1488948"/>
                    <a:pt x="4360164" y="1554480"/>
                    <a:pt x="4279392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700784" y="6391656"/>
            <a:ext cx="2770632" cy="1165860"/>
            <a:chOff x="0" y="0"/>
            <a:chExt cx="3694176" cy="15544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94176" cy="1554480"/>
            </a:xfrm>
            <a:custGeom>
              <a:avLst/>
              <a:gdLst/>
              <a:ahLst/>
              <a:cxnLst/>
              <a:rect r="r" b="b" t="t" l="l"/>
              <a:pathLst>
                <a:path h="15544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26" t="0" r="-4026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00784" y="6370225"/>
            <a:ext cx="2770632" cy="1187291"/>
            <a:chOff x="0" y="0"/>
            <a:chExt cx="3694176" cy="158305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94176" cy="1583055"/>
            </a:xfrm>
            <a:custGeom>
              <a:avLst/>
              <a:gdLst/>
              <a:ahLst/>
              <a:cxnLst/>
              <a:rect r="r" b="b" t="t" l="l"/>
              <a:pathLst>
                <a:path h="1583055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1583055"/>
                  </a:lnTo>
                  <a:lnTo>
                    <a:pt x="0" y="1583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1" t="0" r="-498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3694176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ADDRESS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26464" y="7900416"/>
            <a:ext cx="3319272" cy="754380"/>
            <a:chOff x="0" y="0"/>
            <a:chExt cx="4425696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4256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25696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lnTo>
                    <a:pt x="3931920" y="0"/>
                  </a:lnTo>
                  <a:cubicBezTo>
                    <a:pt x="4204589" y="0"/>
                    <a:pt x="4425696" y="221107"/>
                    <a:pt x="4425696" y="493776"/>
                  </a:cubicBezTo>
                  <a:lnTo>
                    <a:pt x="4425696" y="512064"/>
                  </a:lnTo>
                  <a:cubicBezTo>
                    <a:pt x="4425696" y="784733"/>
                    <a:pt x="4204589" y="1005840"/>
                    <a:pt x="3931920" y="1005840"/>
                  </a:cubicBezTo>
                  <a:lnTo>
                    <a:pt x="493776" y="1005840"/>
                  </a:lnTo>
                  <a:cubicBezTo>
                    <a:pt x="221107" y="1005840"/>
                    <a:pt x="0" y="784733"/>
                    <a:pt x="0" y="512064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26464" y="7900416"/>
            <a:ext cx="3319272" cy="754380"/>
            <a:chOff x="0" y="0"/>
            <a:chExt cx="4425696" cy="1005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4256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74" r="0" b="-35674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26464" y="7871841"/>
            <a:ext cx="3319272" cy="782955"/>
            <a:chOff x="0" y="0"/>
            <a:chExt cx="4425696" cy="10439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25696" cy="1043940"/>
            </a:xfrm>
            <a:custGeom>
              <a:avLst/>
              <a:gdLst/>
              <a:ahLst/>
              <a:cxnLst/>
              <a:rect r="r" b="b" t="t" l="l"/>
              <a:pathLst>
                <a:path h="1043940" w="4425696">
                  <a:moveTo>
                    <a:pt x="0" y="0"/>
                  </a:moveTo>
                  <a:lnTo>
                    <a:pt x="4425696" y="0"/>
                  </a:lnTo>
                  <a:lnTo>
                    <a:pt x="4425696" y="1043940"/>
                  </a:lnTo>
                  <a:lnTo>
                    <a:pt x="0" y="1043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05" r="0" b="-3260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425696" cy="1082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33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Request Pickup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966460" y="2263140"/>
            <a:ext cx="10972800" cy="480060"/>
            <a:chOff x="0" y="0"/>
            <a:chExt cx="14630400" cy="6400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063" r="0" b="-395061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966460" y="2227421"/>
            <a:ext cx="10972800" cy="515779"/>
            <a:chOff x="0" y="0"/>
            <a:chExt cx="14630400" cy="68770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0" cy="687705"/>
            </a:xfrm>
            <a:custGeom>
              <a:avLst/>
              <a:gdLst/>
              <a:ahLst/>
              <a:cxnLst/>
              <a:rect r="r" b="b" t="t" l="l"/>
              <a:pathLst>
                <a:path h="68770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529" r="0" b="-36452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46304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USER JOURNEY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966460" y="2948940"/>
            <a:ext cx="850392" cy="850392"/>
            <a:chOff x="0" y="0"/>
            <a:chExt cx="1133856" cy="11338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077007" y="3059487"/>
            <a:ext cx="629317" cy="629317"/>
            <a:chOff x="0" y="0"/>
            <a:chExt cx="839089" cy="839089"/>
          </a:xfrm>
        </p:grpSpPr>
        <p:sp>
          <p:nvSpPr>
            <p:cNvPr name="Freeform 82" id="82" descr="/home/claude/ecogas/icons/userplus_white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091172" y="2907792"/>
            <a:ext cx="4114800" cy="466344"/>
            <a:chOff x="0" y="0"/>
            <a:chExt cx="5486400" cy="621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8640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807" r="0" b="-121807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091172" y="2893504"/>
            <a:ext cx="4114800" cy="480632"/>
            <a:chOff x="0" y="0"/>
            <a:chExt cx="5486400" cy="64084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486400" cy="640842"/>
            </a:xfrm>
            <a:custGeom>
              <a:avLst/>
              <a:gdLst/>
              <a:ahLst/>
              <a:cxnLst/>
              <a:rect r="r" b="b" t="t" l="l"/>
              <a:pathLst>
                <a:path h="64084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816" r="0" b="-11681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54864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Register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091172" y="3360420"/>
            <a:ext cx="10671048" cy="685800"/>
            <a:chOff x="0" y="0"/>
            <a:chExt cx="14228064" cy="914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228063" cy="914400"/>
            </a:xfrm>
            <a:custGeom>
              <a:avLst/>
              <a:gdLst/>
              <a:ahLst/>
              <a:cxnLst/>
              <a:rect r="r" b="b" t="t" l="l"/>
              <a:pathLst>
                <a:path h="914400" w="14228063">
                  <a:moveTo>
                    <a:pt x="0" y="0"/>
                  </a:moveTo>
                  <a:lnTo>
                    <a:pt x="14228063" y="0"/>
                  </a:lnTo>
                  <a:lnTo>
                    <a:pt x="1422806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76" r="0" b="-252976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091172" y="3331845"/>
            <a:ext cx="10671048" cy="714375"/>
            <a:chOff x="0" y="0"/>
            <a:chExt cx="14228064" cy="9525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228065" cy="952500"/>
            </a:xfrm>
            <a:custGeom>
              <a:avLst/>
              <a:gdLst/>
              <a:ahLst/>
              <a:cxnLst/>
              <a:rect r="r" b="b" t="t" l="l"/>
              <a:pathLst>
                <a:path h="952500" w="14228065">
                  <a:moveTo>
                    <a:pt x="0" y="0"/>
                  </a:moveTo>
                  <a:lnTo>
                    <a:pt x="14228065" y="0"/>
                  </a:lnTo>
                  <a:lnTo>
                    <a:pt x="14228065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059" r="0" b="-24105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4228064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Household signs up with address &amp; phone number in under a minute</a:t>
              </a:r>
            </a:p>
          </p:txBody>
        </p:sp>
      </p:grpSp>
      <p:sp>
        <p:nvSpPr>
          <p:cNvPr name="AutoShape 93" id="93"/>
          <p:cNvSpPr/>
          <p:nvPr/>
        </p:nvSpPr>
        <p:spPr>
          <a:xfrm rot="142260">
            <a:off x="6161437" y="3986022"/>
            <a:ext cx="460419" cy="0"/>
          </a:xfrm>
          <a:prstGeom prst="line">
            <a:avLst/>
          </a:prstGeom>
          <a:ln cap="rnd" w="19050">
            <a:solidFill>
              <a:srgbClr val="A9C9A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5966460" y="4210812"/>
            <a:ext cx="850392" cy="850392"/>
            <a:chOff x="0" y="0"/>
            <a:chExt cx="1133856" cy="113385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077007" y="4321359"/>
            <a:ext cx="629317" cy="629317"/>
            <a:chOff x="0" y="0"/>
            <a:chExt cx="839089" cy="839089"/>
          </a:xfrm>
        </p:grpSpPr>
        <p:sp>
          <p:nvSpPr>
            <p:cNvPr name="Freeform 97" id="97" descr="/home/claude/ecogas/icons/clipboard_white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091172" y="4169664"/>
            <a:ext cx="4114800" cy="466344"/>
            <a:chOff x="0" y="0"/>
            <a:chExt cx="5486400" cy="6217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48640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807" r="0" b="-121807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7091172" y="4155376"/>
            <a:ext cx="4114800" cy="480632"/>
            <a:chOff x="0" y="0"/>
            <a:chExt cx="5486400" cy="64084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486400" cy="640842"/>
            </a:xfrm>
            <a:custGeom>
              <a:avLst/>
              <a:gdLst/>
              <a:ahLst/>
              <a:cxnLst/>
              <a:rect r="r" b="b" t="t" l="l"/>
              <a:pathLst>
                <a:path h="64084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816" r="0" b="-116816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54864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Request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091172" y="4622292"/>
            <a:ext cx="10671048" cy="685800"/>
            <a:chOff x="0" y="0"/>
            <a:chExt cx="14228064" cy="9144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4228063" cy="914400"/>
            </a:xfrm>
            <a:custGeom>
              <a:avLst/>
              <a:gdLst/>
              <a:ahLst/>
              <a:cxnLst/>
              <a:rect r="r" b="b" t="t" l="l"/>
              <a:pathLst>
                <a:path h="914400" w="14228063">
                  <a:moveTo>
                    <a:pt x="0" y="0"/>
                  </a:moveTo>
                  <a:lnTo>
                    <a:pt x="14228063" y="0"/>
                  </a:lnTo>
                  <a:lnTo>
                    <a:pt x="1422806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76" r="0" b="-252976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7091172" y="4593717"/>
            <a:ext cx="10671048" cy="714375"/>
            <a:chOff x="0" y="0"/>
            <a:chExt cx="14228064" cy="9525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4228065" cy="952500"/>
            </a:xfrm>
            <a:custGeom>
              <a:avLst/>
              <a:gdLst/>
              <a:ahLst/>
              <a:cxnLst/>
              <a:rect r="r" b="b" t="t" l="l"/>
              <a:pathLst>
                <a:path h="952500" w="14228065">
                  <a:moveTo>
                    <a:pt x="0" y="0"/>
                  </a:moveTo>
                  <a:lnTo>
                    <a:pt x="14228065" y="0"/>
                  </a:lnTo>
                  <a:lnTo>
                    <a:pt x="14228065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059" r="0" b="-24105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4228064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Schedules a pickup slot or joins a fixed community route</a:t>
              </a:r>
            </a:p>
          </p:txBody>
        </p:sp>
      </p:grpSp>
      <p:sp>
        <p:nvSpPr>
          <p:cNvPr name="AutoShape 108" id="108"/>
          <p:cNvSpPr/>
          <p:nvPr/>
        </p:nvSpPr>
        <p:spPr>
          <a:xfrm rot="142260">
            <a:off x="6161437" y="5247894"/>
            <a:ext cx="460419" cy="0"/>
          </a:xfrm>
          <a:prstGeom prst="line">
            <a:avLst/>
          </a:prstGeom>
          <a:ln cap="rnd" w="19050">
            <a:solidFill>
              <a:srgbClr val="A9C9A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9" id="109"/>
          <p:cNvGrpSpPr/>
          <p:nvPr/>
        </p:nvGrpSpPr>
        <p:grpSpPr>
          <a:xfrm rot="0">
            <a:off x="5966460" y="5472684"/>
            <a:ext cx="850392" cy="850392"/>
            <a:chOff x="0" y="0"/>
            <a:chExt cx="1133856" cy="113385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6077007" y="5583231"/>
            <a:ext cx="629317" cy="629317"/>
            <a:chOff x="0" y="0"/>
            <a:chExt cx="839089" cy="839089"/>
          </a:xfrm>
        </p:grpSpPr>
        <p:sp>
          <p:nvSpPr>
            <p:cNvPr name="Freeform 112" id="112" descr="/home/claude/ecogas/icons/truck_white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7091172" y="5431536"/>
            <a:ext cx="4114800" cy="466344"/>
            <a:chOff x="0" y="0"/>
            <a:chExt cx="5486400" cy="6217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48640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807" r="0" b="-121807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091172" y="5417248"/>
            <a:ext cx="4114800" cy="480632"/>
            <a:chOff x="0" y="0"/>
            <a:chExt cx="5486400" cy="64084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486400" cy="640842"/>
            </a:xfrm>
            <a:custGeom>
              <a:avLst/>
              <a:gdLst/>
              <a:ahLst/>
              <a:cxnLst/>
              <a:rect r="r" b="b" t="t" l="l"/>
              <a:pathLst>
                <a:path h="64084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816" r="0" b="-11681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54864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Pickup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091172" y="5884164"/>
            <a:ext cx="10671048" cy="685800"/>
            <a:chOff x="0" y="0"/>
            <a:chExt cx="14228064" cy="9144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228063" cy="914400"/>
            </a:xfrm>
            <a:custGeom>
              <a:avLst/>
              <a:gdLst/>
              <a:ahLst/>
              <a:cxnLst/>
              <a:rect r="r" b="b" t="t" l="l"/>
              <a:pathLst>
                <a:path h="914400" w="14228063">
                  <a:moveTo>
                    <a:pt x="0" y="0"/>
                  </a:moveTo>
                  <a:lnTo>
                    <a:pt x="14228063" y="0"/>
                  </a:lnTo>
                  <a:lnTo>
                    <a:pt x="1422806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76" r="0" b="-252976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7091172" y="5855589"/>
            <a:ext cx="10671048" cy="714375"/>
            <a:chOff x="0" y="0"/>
            <a:chExt cx="14228064" cy="9525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228065" cy="952500"/>
            </a:xfrm>
            <a:custGeom>
              <a:avLst/>
              <a:gdLst/>
              <a:ahLst/>
              <a:cxnLst/>
              <a:rect r="r" b="b" t="t" l="l"/>
              <a:pathLst>
                <a:path h="952500" w="14228065">
                  <a:moveTo>
                    <a:pt x="0" y="0"/>
                  </a:moveTo>
                  <a:lnTo>
                    <a:pt x="14228065" y="0"/>
                  </a:lnTo>
                  <a:lnTo>
                    <a:pt x="14228065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059" r="0" b="-24105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4228064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Verified collector arrives, weighs waste on-site</a:t>
              </a:r>
            </a:p>
          </p:txBody>
        </p:sp>
      </p:grpSp>
      <p:sp>
        <p:nvSpPr>
          <p:cNvPr name="AutoShape 123" id="123"/>
          <p:cNvSpPr/>
          <p:nvPr/>
        </p:nvSpPr>
        <p:spPr>
          <a:xfrm rot="142260">
            <a:off x="6161437" y="6509766"/>
            <a:ext cx="460419" cy="0"/>
          </a:xfrm>
          <a:prstGeom prst="line">
            <a:avLst/>
          </a:prstGeom>
          <a:ln cap="rnd" w="19050">
            <a:solidFill>
              <a:srgbClr val="A9C9A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4" id="124"/>
          <p:cNvGrpSpPr/>
          <p:nvPr/>
        </p:nvGrpSpPr>
        <p:grpSpPr>
          <a:xfrm rot="0">
            <a:off x="5966460" y="6734556"/>
            <a:ext cx="850392" cy="850392"/>
            <a:chOff x="0" y="0"/>
            <a:chExt cx="1133856" cy="11338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6077007" y="6845103"/>
            <a:ext cx="629317" cy="629317"/>
            <a:chOff x="0" y="0"/>
            <a:chExt cx="839089" cy="839089"/>
          </a:xfrm>
        </p:grpSpPr>
        <p:sp>
          <p:nvSpPr>
            <p:cNvPr name="Freeform 127" id="127" descr="/home/claude/ecogas/icons/check_white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091172" y="6693408"/>
            <a:ext cx="4114800" cy="466344"/>
            <a:chOff x="0" y="0"/>
            <a:chExt cx="5486400" cy="6217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48640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807" r="0" b="-121807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7091172" y="6679120"/>
            <a:ext cx="4114800" cy="480632"/>
            <a:chOff x="0" y="0"/>
            <a:chExt cx="5486400" cy="64084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486400" cy="640842"/>
            </a:xfrm>
            <a:custGeom>
              <a:avLst/>
              <a:gdLst/>
              <a:ahLst/>
              <a:cxnLst/>
              <a:rect r="r" b="b" t="t" l="l"/>
              <a:pathLst>
                <a:path h="64084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816" r="0" b="-11681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19050"/>
              <a:ext cx="54864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Verification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7091172" y="7146036"/>
            <a:ext cx="10671048" cy="685800"/>
            <a:chOff x="0" y="0"/>
            <a:chExt cx="14228064" cy="9144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228063" cy="914400"/>
            </a:xfrm>
            <a:custGeom>
              <a:avLst/>
              <a:gdLst/>
              <a:ahLst/>
              <a:cxnLst/>
              <a:rect r="r" b="b" t="t" l="l"/>
              <a:pathLst>
                <a:path h="914400" w="14228063">
                  <a:moveTo>
                    <a:pt x="0" y="0"/>
                  </a:moveTo>
                  <a:lnTo>
                    <a:pt x="14228063" y="0"/>
                  </a:lnTo>
                  <a:lnTo>
                    <a:pt x="1422806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76" r="0" b="-252976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7091172" y="7117461"/>
            <a:ext cx="10671048" cy="714375"/>
            <a:chOff x="0" y="0"/>
            <a:chExt cx="14228064" cy="9525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228065" cy="952500"/>
            </a:xfrm>
            <a:custGeom>
              <a:avLst/>
              <a:gdLst/>
              <a:ahLst/>
              <a:cxnLst/>
              <a:rect r="r" b="b" t="t" l="l"/>
              <a:pathLst>
                <a:path h="952500" w="14228065">
                  <a:moveTo>
                    <a:pt x="0" y="0"/>
                  </a:moveTo>
                  <a:lnTo>
                    <a:pt x="14228065" y="0"/>
                  </a:lnTo>
                  <a:lnTo>
                    <a:pt x="14228065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059" r="0" b="-241059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4228064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 &amp; quality auto-logged and confirmed digitally</a:t>
              </a:r>
            </a:p>
          </p:txBody>
        </p:sp>
      </p:grpSp>
      <p:sp>
        <p:nvSpPr>
          <p:cNvPr name="AutoShape 138" id="138"/>
          <p:cNvSpPr/>
          <p:nvPr/>
        </p:nvSpPr>
        <p:spPr>
          <a:xfrm rot="142260">
            <a:off x="6161437" y="7771638"/>
            <a:ext cx="460419" cy="0"/>
          </a:xfrm>
          <a:prstGeom prst="line">
            <a:avLst/>
          </a:prstGeom>
          <a:ln cap="rnd" w="19050">
            <a:solidFill>
              <a:srgbClr val="A9C9A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9" id="139"/>
          <p:cNvGrpSpPr/>
          <p:nvPr/>
        </p:nvGrpSpPr>
        <p:grpSpPr>
          <a:xfrm rot="0">
            <a:off x="5966460" y="7996428"/>
            <a:ext cx="850392" cy="850392"/>
            <a:chOff x="0" y="0"/>
            <a:chExt cx="1133856" cy="113385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6077007" y="8106975"/>
            <a:ext cx="629317" cy="629317"/>
            <a:chOff x="0" y="0"/>
            <a:chExt cx="839089" cy="839089"/>
          </a:xfrm>
        </p:grpSpPr>
        <p:sp>
          <p:nvSpPr>
            <p:cNvPr name="Freeform 142" id="142" descr="/home/claude/ecogas/icons/award_white.png"/>
            <p:cNvSpPr/>
            <p:nvPr/>
          </p:nvSpPr>
          <p:spPr>
            <a:xfrm flipH="false" flipV="false" rot="0">
              <a:off x="0" y="0"/>
              <a:ext cx="839089" cy="839089"/>
            </a:xfrm>
            <a:custGeom>
              <a:avLst/>
              <a:gdLst/>
              <a:ahLst/>
              <a:cxnLst/>
              <a:rect r="r" b="b" t="t" l="l"/>
              <a:pathLst>
                <a:path h="839089" w="839089">
                  <a:moveTo>
                    <a:pt x="0" y="0"/>
                  </a:moveTo>
                  <a:lnTo>
                    <a:pt x="839089" y="0"/>
                  </a:lnTo>
                  <a:lnTo>
                    <a:pt x="839089" y="839089"/>
                  </a:lnTo>
                  <a:lnTo>
                    <a:pt x="0" y="83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7091172" y="7955280"/>
            <a:ext cx="4114800" cy="466344"/>
            <a:chOff x="0" y="0"/>
            <a:chExt cx="5486400" cy="62179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486400" cy="621792"/>
            </a:xfrm>
            <a:custGeom>
              <a:avLst/>
              <a:gdLst/>
              <a:ahLst/>
              <a:cxnLst/>
              <a:rect r="r" b="b" t="t" l="l"/>
              <a:pathLst>
                <a:path h="6217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807" r="0" b="-121807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7091172" y="7940993"/>
            <a:ext cx="4114800" cy="480632"/>
            <a:chOff x="0" y="0"/>
            <a:chExt cx="5486400" cy="64084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486400" cy="640842"/>
            </a:xfrm>
            <a:custGeom>
              <a:avLst/>
              <a:gdLst/>
              <a:ahLst/>
              <a:cxnLst/>
              <a:rect r="r" b="b" t="t" l="l"/>
              <a:pathLst>
                <a:path h="64084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816" r="0" b="-116816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54864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Points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7091172" y="8407908"/>
            <a:ext cx="10671048" cy="685800"/>
            <a:chOff x="0" y="0"/>
            <a:chExt cx="14228064" cy="9144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4228063" cy="914400"/>
            </a:xfrm>
            <a:custGeom>
              <a:avLst/>
              <a:gdLst/>
              <a:ahLst/>
              <a:cxnLst/>
              <a:rect r="r" b="b" t="t" l="l"/>
              <a:pathLst>
                <a:path h="914400" w="14228063">
                  <a:moveTo>
                    <a:pt x="0" y="0"/>
                  </a:moveTo>
                  <a:lnTo>
                    <a:pt x="14228063" y="0"/>
                  </a:lnTo>
                  <a:lnTo>
                    <a:pt x="14228063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76" r="0" b="-252976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7091172" y="8379333"/>
            <a:ext cx="10671048" cy="714375"/>
            <a:chOff x="0" y="0"/>
            <a:chExt cx="14228064" cy="9525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4228065" cy="952500"/>
            </a:xfrm>
            <a:custGeom>
              <a:avLst/>
              <a:gdLst/>
              <a:ahLst/>
              <a:cxnLst/>
              <a:rect r="r" b="b" t="t" l="l"/>
              <a:pathLst>
                <a:path h="952500" w="14228065">
                  <a:moveTo>
                    <a:pt x="0" y="0"/>
                  </a:moveTo>
                  <a:lnTo>
                    <a:pt x="14228065" y="0"/>
                  </a:lnTo>
                  <a:lnTo>
                    <a:pt x="14228065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059" r="0" b="-241059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14228064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EcoPoints credited instantly to the household's wallet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INCENTIVE ENGINE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3030200" cy="1028700"/>
            <a:chOff x="0" y="0"/>
            <a:chExt cx="17373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638" r="0" b="-1966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80408"/>
            <a:ext cx="13030200" cy="1035844"/>
            <a:chOff x="0" y="0"/>
            <a:chExt cx="173736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108" r="0" b="-195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Every Kilogram Pays Back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2331720"/>
            <a:ext cx="7543800" cy="3497580"/>
            <a:chOff x="0" y="0"/>
            <a:chExt cx="10058400" cy="466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05840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9802368" y="0"/>
                  </a:lnTo>
                  <a:cubicBezTo>
                    <a:pt x="9943719" y="0"/>
                    <a:pt x="10058400" y="114681"/>
                    <a:pt x="10058400" y="256032"/>
                  </a:cubicBezTo>
                  <a:lnTo>
                    <a:pt x="10058400" y="4407408"/>
                  </a:lnTo>
                  <a:cubicBezTo>
                    <a:pt x="10058400" y="4548759"/>
                    <a:pt x="9943719" y="4663440"/>
                    <a:pt x="9802368" y="4663440"/>
                  </a:cubicBezTo>
                  <a:lnTo>
                    <a:pt x="256032" y="4663440"/>
                  </a:lnTo>
                  <a:cubicBezTo>
                    <a:pt x="114681" y="4663440"/>
                    <a:pt x="0" y="4548759"/>
                    <a:pt x="0" y="440740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40180" y="3086100"/>
            <a:ext cx="1577340" cy="1577340"/>
            <a:chOff x="0" y="0"/>
            <a:chExt cx="2103120" cy="2103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A9C9A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45234" y="3291154"/>
            <a:ext cx="1167194" cy="1167194"/>
            <a:chOff x="0" y="0"/>
            <a:chExt cx="1556258" cy="1556258"/>
          </a:xfrm>
        </p:grpSpPr>
        <p:sp>
          <p:nvSpPr>
            <p:cNvPr name="Freeform 27" id="27" descr="/home/claude/ecogas/icons/scale_forest.png"/>
            <p:cNvSpPr/>
            <p:nvPr/>
          </p:nvSpPr>
          <p:spPr>
            <a:xfrm flipH="false" flipV="false" rot="0">
              <a:off x="0" y="0"/>
              <a:ext cx="1556258" cy="1556258"/>
            </a:xfrm>
            <a:custGeom>
              <a:avLst/>
              <a:gdLst/>
              <a:ahLst/>
              <a:cxnLst/>
              <a:rect r="r" b="b" t="t" l="l"/>
              <a:pathLst>
                <a:path h="1556258" w="1556258">
                  <a:moveTo>
                    <a:pt x="0" y="0"/>
                  </a:moveTo>
                  <a:lnTo>
                    <a:pt x="1556258" y="0"/>
                  </a:lnTo>
                  <a:lnTo>
                    <a:pt x="1556258" y="1556258"/>
                  </a:lnTo>
                  <a:lnTo>
                    <a:pt x="0" y="1556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4773168"/>
            <a:ext cx="2057400" cy="548640"/>
            <a:chOff x="0" y="0"/>
            <a:chExt cx="27432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3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17" r="0" b="-2301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4758880"/>
            <a:ext cx="2057400" cy="562928"/>
            <a:chOff x="0" y="0"/>
            <a:chExt cx="2743200" cy="7505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43200" cy="750570"/>
            </a:xfrm>
            <a:custGeom>
              <a:avLst/>
              <a:gdLst/>
              <a:ahLst/>
              <a:cxnLst/>
              <a:rect r="r" b="b" t="t" l="l"/>
              <a:pathLst>
                <a:path h="75057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14" r="0" b="-2121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743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kg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" y="5266944"/>
            <a:ext cx="2057400" cy="411480"/>
            <a:chOff x="0" y="0"/>
            <a:chExt cx="27432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43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6" r="0" b="-4735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34440" y="5245513"/>
            <a:ext cx="2057400" cy="432911"/>
            <a:chOff x="0" y="0"/>
            <a:chExt cx="2743200" cy="5772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43200" cy="577215"/>
            </a:xfrm>
            <a:custGeom>
              <a:avLst/>
              <a:gdLst/>
              <a:ahLst/>
              <a:cxnLst/>
              <a:rect r="r" b="b" t="t" l="l"/>
              <a:pathLst>
                <a:path h="577215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7432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9C9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497580" y="3497580"/>
            <a:ext cx="960120" cy="1371600"/>
            <a:chOff x="0" y="0"/>
            <a:chExt cx="128016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3418" t="0" r="-133417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497580" y="3490436"/>
            <a:ext cx="960120" cy="1378744"/>
            <a:chOff x="0" y="0"/>
            <a:chExt cx="1280160" cy="18383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838325"/>
            </a:xfrm>
            <a:custGeom>
              <a:avLst/>
              <a:gdLst/>
              <a:ahLst/>
              <a:cxnLst/>
              <a:rect r="r" b="b" t="t" l="l"/>
              <a:pathLst>
                <a:path h="1838325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838325"/>
                  </a:lnTo>
                  <a:lnTo>
                    <a:pt x="0" y="183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4245" t="0" r="-13424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2801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2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=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869180" y="3086100"/>
            <a:ext cx="1577340" cy="1577340"/>
            <a:chOff x="0" y="0"/>
            <a:chExt cx="2103120" cy="2103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031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074234" y="3291154"/>
            <a:ext cx="1167194" cy="1167194"/>
            <a:chOff x="0" y="0"/>
            <a:chExt cx="1556258" cy="1556258"/>
          </a:xfrm>
        </p:grpSpPr>
        <p:sp>
          <p:nvSpPr>
            <p:cNvPr name="Freeform 46" id="46" descr="/home/claude/ecogas/icons/award_forest.png"/>
            <p:cNvSpPr/>
            <p:nvPr/>
          </p:nvSpPr>
          <p:spPr>
            <a:xfrm flipH="false" flipV="false" rot="0">
              <a:off x="0" y="0"/>
              <a:ext cx="1556258" cy="1556258"/>
            </a:xfrm>
            <a:custGeom>
              <a:avLst/>
              <a:gdLst/>
              <a:ahLst/>
              <a:cxnLst/>
              <a:rect r="r" b="b" t="t" l="l"/>
              <a:pathLst>
                <a:path h="1556258" w="1556258">
                  <a:moveTo>
                    <a:pt x="0" y="0"/>
                  </a:moveTo>
                  <a:lnTo>
                    <a:pt x="1556258" y="0"/>
                  </a:lnTo>
                  <a:lnTo>
                    <a:pt x="1556258" y="1556258"/>
                  </a:lnTo>
                  <a:lnTo>
                    <a:pt x="0" y="1556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594860" y="3960009"/>
            <a:ext cx="2194560" cy="2202399"/>
            <a:chOff x="0" y="0"/>
            <a:chExt cx="2926080" cy="29365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26080" cy="2936494"/>
            </a:xfrm>
            <a:custGeom>
              <a:avLst/>
              <a:gdLst/>
              <a:ahLst/>
              <a:cxnLst/>
              <a:rect r="r" b="b" t="t" l="l"/>
              <a:pathLst>
                <a:path h="293649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36494"/>
                  </a:lnTo>
                  <a:lnTo>
                    <a:pt x="0" y="29364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851" t="0" r="-78851" b="-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594860" y="3945722"/>
            <a:ext cx="2194560" cy="2216683"/>
            <a:chOff x="0" y="0"/>
            <a:chExt cx="2926080" cy="295557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926080" cy="2955574"/>
            </a:xfrm>
            <a:custGeom>
              <a:avLst/>
              <a:gdLst/>
              <a:ahLst/>
              <a:cxnLst/>
              <a:rect r="r" b="b" t="t" l="l"/>
              <a:pathLst>
                <a:path h="295557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55574"/>
                  </a:lnTo>
                  <a:lnTo>
                    <a:pt x="0" y="29555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597" t="0" r="-7959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2926080" cy="2974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150 Points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389120" y="5266944"/>
            <a:ext cx="2606040" cy="411480"/>
            <a:chOff x="0" y="0"/>
            <a:chExt cx="34747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389120" y="5245513"/>
            <a:ext cx="2606040" cy="432911"/>
            <a:chOff x="0" y="0"/>
            <a:chExt cx="3474720" cy="5772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577215"/>
            </a:xfrm>
            <a:custGeom>
              <a:avLst/>
              <a:gdLst/>
              <a:ahLst/>
              <a:cxnLst/>
              <a:rect r="r" b="b" t="t" l="l"/>
              <a:pathLst>
                <a:path h="57721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96" r="0" b="-6729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47472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9C9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EcoPoint credited live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03020" y="6103620"/>
            <a:ext cx="6583680" cy="1097280"/>
            <a:chOff x="0" y="0"/>
            <a:chExt cx="8778240" cy="1463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778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03020" y="6075045"/>
            <a:ext cx="6583680" cy="1125855"/>
            <a:chOff x="0" y="0"/>
            <a:chExt cx="8778240" cy="15011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0" cy="1501140"/>
            </a:xfrm>
            <a:custGeom>
              <a:avLst/>
              <a:gdLst/>
              <a:ahLst/>
              <a:cxnLst/>
              <a:rect r="r" b="b" t="t" l="l"/>
              <a:pathLst>
                <a:path h="15011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42" r="0" b="-6394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77824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2B2B2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Transparent, tamper-proof and visible to the household the moment collection is verified — turning a chore into a small, satisfying win.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983980" y="2331720"/>
            <a:ext cx="8229600" cy="480060"/>
            <a:chOff x="0" y="0"/>
            <a:chExt cx="109728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983980" y="2296001"/>
            <a:ext cx="8229600" cy="515779"/>
            <a:chOff x="0" y="0"/>
            <a:chExt cx="10972800" cy="68770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REWARD MARKETPLACE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960348" y="2981373"/>
            <a:ext cx="9093708" cy="2057400"/>
            <a:chOff x="0" y="0"/>
            <a:chExt cx="12124944" cy="2743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124944" cy="2743200"/>
            </a:xfrm>
            <a:custGeom>
              <a:avLst/>
              <a:gdLst/>
              <a:ahLst/>
              <a:cxnLst/>
              <a:rect r="r" b="b" t="t" l="l"/>
              <a:pathLst>
                <a:path h="2743200" w="12124944">
                  <a:moveTo>
                    <a:pt x="0" y="311785"/>
                  </a:moveTo>
                  <a:cubicBezTo>
                    <a:pt x="0" y="139573"/>
                    <a:pt x="87884" y="0"/>
                    <a:pt x="196215" y="0"/>
                  </a:cubicBezTo>
                  <a:lnTo>
                    <a:pt x="11928729" y="0"/>
                  </a:lnTo>
                  <a:cubicBezTo>
                    <a:pt x="12037061" y="0"/>
                    <a:pt x="12124944" y="139573"/>
                    <a:pt x="12124944" y="311785"/>
                  </a:cubicBezTo>
                  <a:lnTo>
                    <a:pt x="12124944" y="2431415"/>
                  </a:lnTo>
                  <a:cubicBezTo>
                    <a:pt x="12124944" y="2603500"/>
                    <a:pt x="12037061" y="2743200"/>
                    <a:pt x="11928729" y="2743200"/>
                  </a:cubicBezTo>
                  <a:lnTo>
                    <a:pt x="196215" y="2743200"/>
                  </a:lnTo>
                  <a:cubicBezTo>
                    <a:pt x="87884" y="2743200"/>
                    <a:pt x="0" y="2603627"/>
                    <a:pt x="0" y="2431415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225210" y="3355448"/>
            <a:ext cx="824027" cy="1309259"/>
            <a:chOff x="0" y="0"/>
            <a:chExt cx="1098702" cy="17456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8677" cy="1745742"/>
            </a:xfrm>
            <a:custGeom>
              <a:avLst/>
              <a:gdLst/>
              <a:ahLst/>
              <a:cxnLst/>
              <a:rect r="r" b="b" t="t" l="l"/>
              <a:pathLst>
                <a:path h="1745742" w="1098677">
                  <a:moveTo>
                    <a:pt x="0" y="872871"/>
                  </a:moveTo>
                  <a:cubicBezTo>
                    <a:pt x="0" y="390779"/>
                    <a:pt x="245872" y="0"/>
                    <a:pt x="549402" y="0"/>
                  </a:cubicBezTo>
                  <a:cubicBezTo>
                    <a:pt x="852932" y="0"/>
                    <a:pt x="1098677" y="390779"/>
                    <a:pt x="1098677" y="872871"/>
                  </a:cubicBezTo>
                  <a:cubicBezTo>
                    <a:pt x="1098677" y="1354963"/>
                    <a:pt x="852805" y="1745742"/>
                    <a:pt x="549275" y="1745742"/>
                  </a:cubicBezTo>
                  <a:cubicBezTo>
                    <a:pt x="245745" y="1745742"/>
                    <a:pt x="0" y="1354963"/>
                    <a:pt x="0" y="872871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32328" y="3525650"/>
            <a:ext cx="609743" cy="968788"/>
            <a:chOff x="0" y="0"/>
            <a:chExt cx="812990" cy="1291717"/>
          </a:xfrm>
        </p:grpSpPr>
        <p:sp>
          <p:nvSpPr>
            <p:cNvPr name="Freeform 72" id="72" descr="/home/claude/ecogas/icons/lpg_white.png"/>
            <p:cNvSpPr/>
            <p:nvPr/>
          </p:nvSpPr>
          <p:spPr>
            <a:xfrm flipH="false" flipV="false" rot="0">
              <a:off x="0" y="0"/>
              <a:ext cx="812927" cy="1291717"/>
            </a:xfrm>
            <a:custGeom>
              <a:avLst/>
              <a:gdLst/>
              <a:ahLst/>
              <a:cxnLst/>
              <a:rect r="r" b="b" t="t" l="l"/>
              <a:pathLst>
                <a:path h="1291717" w="812927">
                  <a:moveTo>
                    <a:pt x="0" y="0"/>
                  </a:moveTo>
                  <a:lnTo>
                    <a:pt x="812927" y="0"/>
                  </a:lnTo>
                  <a:lnTo>
                    <a:pt x="812927" y="1291717"/>
                  </a:lnTo>
                  <a:lnTo>
                    <a:pt x="0" y="1291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445" t="0" r="-29451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284676" y="2981373"/>
            <a:ext cx="6474485" cy="1647568"/>
            <a:chOff x="0" y="0"/>
            <a:chExt cx="8632647" cy="219675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632698" cy="2196719"/>
            </a:xfrm>
            <a:custGeom>
              <a:avLst/>
              <a:gdLst/>
              <a:ahLst/>
              <a:cxnLst/>
              <a:rect r="r" b="b" t="t" l="l"/>
              <a:pathLst>
                <a:path h="2196719" w="8632698">
                  <a:moveTo>
                    <a:pt x="0" y="0"/>
                  </a:moveTo>
                  <a:lnTo>
                    <a:pt x="8632698" y="0"/>
                  </a:lnTo>
                  <a:lnTo>
                    <a:pt x="8632698" y="2196719"/>
                  </a:lnTo>
                  <a:lnTo>
                    <a:pt x="0" y="21967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17" r="0" b="-26519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284676" y="2974067"/>
            <a:ext cx="6474485" cy="1654874"/>
            <a:chOff x="0" y="0"/>
            <a:chExt cx="8632647" cy="220649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632647" cy="2206493"/>
            </a:xfrm>
            <a:custGeom>
              <a:avLst/>
              <a:gdLst/>
              <a:ahLst/>
              <a:cxnLst/>
              <a:rect r="r" b="b" t="t" l="l"/>
              <a:pathLst>
                <a:path h="2206493" w="8632647">
                  <a:moveTo>
                    <a:pt x="0" y="0"/>
                  </a:moveTo>
                  <a:lnTo>
                    <a:pt x="8632647" y="0"/>
                  </a:lnTo>
                  <a:lnTo>
                    <a:pt x="8632647" y="2206493"/>
                  </a:lnTo>
                  <a:lnTo>
                    <a:pt x="0" y="22064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32" r="0" b="-2623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8632647" cy="2216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LPG Refill Discounts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284676" y="4010073"/>
            <a:ext cx="6474485" cy="935184"/>
            <a:chOff x="0" y="0"/>
            <a:chExt cx="8632647" cy="12469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632698" cy="1246886"/>
            </a:xfrm>
            <a:custGeom>
              <a:avLst/>
              <a:gdLst/>
              <a:ahLst/>
              <a:cxnLst/>
              <a:rect r="r" b="b" t="t" l="l"/>
              <a:pathLst>
                <a:path h="1246886" w="8632698">
                  <a:moveTo>
                    <a:pt x="0" y="0"/>
                  </a:moveTo>
                  <a:lnTo>
                    <a:pt x="8632698" y="0"/>
                  </a:lnTo>
                  <a:lnTo>
                    <a:pt x="8632698" y="1246886"/>
                  </a:lnTo>
                  <a:lnTo>
                    <a:pt x="0" y="12468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807" r="0" b="-84808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284676" y="3995461"/>
            <a:ext cx="6474485" cy="949795"/>
            <a:chOff x="0" y="0"/>
            <a:chExt cx="8632647" cy="126639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632647" cy="1266391"/>
            </a:xfrm>
            <a:custGeom>
              <a:avLst/>
              <a:gdLst/>
              <a:ahLst/>
              <a:cxnLst/>
              <a:rect r="r" b="b" t="t" l="l"/>
              <a:pathLst>
                <a:path h="1266391" w="8632647">
                  <a:moveTo>
                    <a:pt x="0" y="0"/>
                  </a:moveTo>
                  <a:lnTo>
                    <a:pt x="8632647" y="0"/>
                  </a:lnTo>
                  <a:lnTo>
                    <a:pt x="8632647" y="1266391"/>
                  </a:lnTo>
                  <a:lnTo>
                    <a:pt x="0" y="1266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24" r="0" b="-8282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8632647" cy="1285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Redeem points for ₹ off next cylinder refill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3030200" cy="1028700"/>
            <a:chOff x="0" y="0"/>
            <a:chExt cx="17373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638" r="0" b="-1966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80408"/>
            <a:ext cx="13030200" cy="1035844"/>
            <a:chOff x="0" y="0"/>
            <a:chExt cx="173736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108" r="0" b="-195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Three Revenue Streams, One Circular Loop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94406" y="2297430"/>
            <a:ext cx="5349240" cy="3223260"/>
            <a:chOff x="0" y="0"/>
            <a:chExt cx="7132320" cy="4297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32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078224"/>
                  </a:lnTo>
                  <a:cubicBezTo>
                    <a:pt x="7132320" y="4199382"/>
                    <a:pt x="7034022" y="4297680"/>
                    <a:pt x="691286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20386" y="2708910"/>
            <a:ext cx="1097280" cy="1097280"/>
            <a:chOff x="0" y="0"/>
            <a:chExt cx="146304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63033" y="2851556"/>
            <a:ext cx="812006" cy="812006"/>
            <a:chOff x="0" y="0"/>
            <a:chExt cx="1082675" cy="1082675"/>
          </a:xfrm>
        </p:grpSpPr>
        <p:sp>
          <p:nvSpPr>
            <p:cNvPr name="Freeform 27" id="27" descr="/home/claude/ecogas/icons/flame_white.png"/>
            <p:cNvSpPr/>
            <p:nvPr/>
          </p:nvSpPr>
          <p:spPr>
            <a:xfrm flipH="false" flipV="false" rot="0">
              <a:off x="0" y="0"/>
              <a:ext cx="1082675" cy="1082675"/>
            </a:xfrm>
            <a:custGeom>
              <a:avLst/>
              <a:gdLst/>
              <a:ahLst/>
              <a:cxnLst/>
              <a:rect r="r" b="b" t="t" l="l"/>
              <a:pathLst>
                <a:path h="1082675" w="1082675">
                  <a:moveTo>
                    <a:pt x="0" y="0"/>
                  </a:moveTo>
                  <a:lnTo>
                    <a:pt x="1082675" y="0"/>
                  </a:lnTo>
                  <a:lnTo>
                    <a:pt x="1082675" y="1082675"/>
                  </a:lnTo>
                  <a:lnTo>
                    <a:pt x="0" y="1082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137306" y="4011930"/>
            <a:ext cx="4663440" cy="754380"/>
            <a:chOff x="0" y="0"/>
            <a:chExt cx="621792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68" r="0" b="-7036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137306" y="3997642"/>
            <a:ext cx="4663440" cy="768668"/>
            <a:chOff x="0" y="0"/>
            <a:chExt cx="6217920" cy="10248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1024890"/>
            </a:xfrm>
            <a:custGeom>
              <a:avLst/>
              <a:gdLst/>
              <a:ahLst/>
              <a:cxnLst/>
              <a:rect r="r" b="b" t="t" l="l"/>
              <a:pathLst>
                <a:path h="102489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214" r="0" b="-6821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179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Biogas &amp; Piped Energy Sales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05886" y="4766310"/>
            <a:ext cx="4526280" cy="754380"/>
            <a:chOff x="0" y="0"/>
            <a:chExt cx="603504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350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29" r="0" b="-6682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205886" y="4752022"/>
            <a:ext cx="4526280" cy="768668"/>
            <a:chOff x="0" y="0"/>
            <a:chExt cx="6035040" cy="10248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5040" cy="1024890"/>
            </a:xfrm>
            <a:custGeom>
              <a:avLst/>
              <a:gdLst/>
              <a:ahLst/>
              <a:cxnLst/>
              <a:rect r="r" b="b" t="t" l="l"/>
              <a:pathLst>
                <a:path h="102489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37" r="0" b="-647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035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Bottled or piped biogas sold to households, hostels, canteens &amp; small industry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30384" y="2194560"/>
            <a:ext cx="5349240" cy="3223260"/>
            <a:chOff x="0" y="0"/>
            <a:chExt cx="7132320" cy="429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32320" cy="4297680"/>
            </a:xfrm>
            <a:custGeom>
              <a:avLst/>
              <a:gdLst/>
              <a:ahLst/>
              <a:cxnLst/>
              <a:rect r="r" b="b" t="t" l="l"/>
              <a:pathLst>
                <a:path h="42976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078224"/>
                  </a:lnTo>
                  <a:cubicBezTo>
                    <a:pt x="7132320" y="4199382"/>
                    <a:pt x="7034022" y="4297680"/>
                    <a:pt x="691286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56364" y="2606040"/>
            <a:ext cx="1097280" cy="1097280"/>
            <a:chOff x="0" y="0"/>
            <a:chExt cx="146304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99010" y="2748686"/>
            <a:ext cx="812006" cy="812006"/>
            <a:chOff x="0" y="0"/>
            <a:chExt cx="1082675" cy="1082675"/>
          </a:xfrm>
        </p:grpSpPr>
        <p:sp>
          <p:nvSpPr>
            <p:cNvPr name="Freeform 43" id="43" descr="/home/claude/ecogas/icons/seedling_white.png"/>
            <p:cNvSpPr/>
            <p:nvPr/>
          </p:nvSpPr>
          <p:spPr>
            <a:xfrm flipH="false" flipV="false" rot="0">
              <a:off x="0" y="0"/>
              <a:ext cx="1082675" cy="1082675"/>
            </a:xfrm>
            <a:custGeom>
              <a:avLst/>
              <a:gdLst/>
              <a:ahLst/>
              <a:cxnLst/>
              <a:rect r="r" b="b" t="t" l="l"/>
              <a:pathLst>
                <a:path h="1082675" w="1082675">
                  <a:moveTo>
                    <a:pt x="0" y="0"/>
                  </a:moveTo>
                  <a:lnTo>
                    <a:pt x="1082675" y="0"/>
                  </a:lnTo>
                  <a:lnTo>
                    <a:pt x="1082675" y="1082675"/>
                  </a:lnTo>
                  <a:lnTo>
                    <a:pt x="0" y="1082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73284" y="3909060"/>
            <a:ext cx="4663440" cy="754380"/>
            <a:chOff x="0" y="0"/>
            <a:chExt cx="621792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68" r="0" b="-70369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73284" y="3894772"/>
            <a:ext cx="4663440" cy="768668"/>
            <a:chOff x="0" y="0"/>
            <a:chExt cx="6217920" cy="10248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1024890"/>
            </a:xfrm>
            <a:custGeom>
              <a:avLst/>
              <a:gdLst/>
              <a:ahLst/>
              <a:cxnLst/>
              <a:rect r="r" b="b" t="t" l="l"/>
              <a:pathLst>
                <a:path h="102489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214" r="0" b="-6821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2179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Organic Fertilizer Sales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341864" y="4663440"/>
            <a:ext cx="4526280" cy="754380"/>
            <a:chOff x="0" y="0"/>
            <a:chExt cx="603504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350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29" r="0" b="-66828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341864" y="4649153"/>
            <a:ext cx="4526280" cy="768668"/>
            <a:chOff x="0" y="0"/>
            <a:chExt cx="6035040" cy="10248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35040" cy="1024890"/>
            </a:xfrm>
            <a:custGeom>
              <a:avLst/>
              <a:gdLst/>
              <a:ahLst/>
              <a:cxnLst/>
              <a:rect r="r" b="b" t="t" l="l"/>
              <a:pathLst>
                <a:path h="102489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737" r="0" b="-6473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035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Nutrient-rich digestate sold to farmers and nurseries as a chemical-free input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83564" y="6172200"/>
            <a:ext cx="4869180" cy="2125980"/>
            <a:chOff x="0" y="0"/>
            <a:chExt cx="6492240" cy="2834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57884" y="6364224"/>
            <a:ext cx="4320540" cy="548640"/>
            <a:chOff x="0" y="0"/>
            <a:chExt cx="57607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338" r="0" b="-10333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57884" y="6357080"/>
            <a:ext cx="4320540" cy="555784"/>
            <a:chOff x="0" y="0"/>
            <a:chExt cx="5760720" cy="7410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60720" cy="741045"/>
            </a:xfrm>
            <a:custGeom>
              <a:avLst/>
              <a:gdLst/>
              <a:ahLst/>
              <a:cxnLst/>
              <a:rect r="r" b="b" t="t" l="l"/>
              <a:pathLst>
                <a:path h="741045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472" r="0" b="-10147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76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Revenue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57884" y="6995160"/>
            <a:ext cx="4320540" cy="1165860"/>
            <a:chOff x="0" y="0"/>
            <a:chExt cx="5760720" cy="15544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60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9" r="0" b="-22158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57884" y="6980872"/>
            <a:ext cx="4320540" cy="1180148"/>
            <a:chOff x="0" y="0"/>
            <a:chExt cx="5760720" cy="15735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60720" cy="1573530"/>
            </a:xfrm>
            <a:custGeom>
              <a:avLst/>
              <a:gdLst/>
              <a:ahLst/>
              <a:cxnLst/>
              <a:rect r="r" b="b" t="t" l="l"/>
              <a:pathLst>
                <a:path h="157353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573530"/>
                  </a:lnTo>
                  <a:lnTo>
                    <a:pt x="0" y="1573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35" r="0" b="-2133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7607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7F9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Collection fees + biogas sales + fertilizer sales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952744" y="6172200"/>
            <a:ext cx="754380" cy="2125980"/>
            <a:chOff x="0" y="0"/>
            <a:chExt cx="1005840" cy="2834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058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834" t="0" r="-311834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952744" y="6172200"/>
            <a:ext cx="754380" cy="2125980"/>
            <a:chOff x="0" y="0"/>
            <a:chExt cx="1005840" cy="2834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58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1582" t="0" r="-3115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005840" cy="2834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−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707124" y="6172200"/>
            <a:ext cx="4869180" cy="2125980"/>
            <a:chOff x="0" y="0"/>
            <a:chExt cx="6492240" cy="2834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6B7A7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981444" y="6364224"/>
            <a:ext cx="4320540" cy="548640"/>
            <a:chOff x="0" y="0"/>
            <a:chExt cx="576072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338" r="0" b="-103336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981444" y="6357080"/>
            <a:ext cx="4320540" cy="555784"/>
            <a:chOff x="0" y="0"/>
            <a:chExt cx="5760720" cy="7410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760720" cy="741045"/>
            </a:xfrm>
            <a:custGeom>
              <a:avLst/>
              <a:gdLst/>
              <a:ahLst/>
              <a:cxnLst/>
              <a:rect r="r" b="b" t="t" l="l"/>
              <a:pathLst>
                <a:path h="741045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472" r="0" b="-10147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576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Expenses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981444" y="6995160"/>
            <a:ext cx="4320540" cy="1165860"/>
            <a:chOff x="0" y="0"/>
            <a:chExt cx="5760720" cy="15544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760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9" r="0" b="-22158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981444" y="6980872"/>
            <a:ext cx="4320540" cy="1180148"/>
            <a:chOff x="0" y="0"/>
            <a:chExt cx="5760720" cy="157353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60720" cy="1573530"/>
            </a:xfrm>
            <a:custGeom>
              <a:avLst/>
              <a:gdLst/>
              <a:ahLst/>
              <a:cxnLst/>
              <a:rect r="r" b="b" t="t" l="l"/>
              <a:pathLst>
                <a:path h="157353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573530"/>
                  </a:lnTo>
                  <a:lnTo>
                    <a:pt x="0" y="1573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35" r="0" b="-2133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7607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7F9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Logistics, plant operations, maintenance &amp; staff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576304" y="6172200"/>
            <a:ext cx="754380" cy="2125980"/>
            <a:chOff x="0" y="0"/>
            <a:chExt cx="1005840" cy="2834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058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1834" t="0" r="-311834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576304" y="6172200"/>
            <a:ext cx="754380" cy="2125980"/>
            <a:chOff x="0" y="0"/>
            <a:chExt cx="1005840" cy="2834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058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1582" t="0" r="-31158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1005840" cy="2834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=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330684" y="6172200"/>
            <a:ext cx="4869180" cy="2125980"/>
            <a:chOff x="0" y="0"/>
            <a:chExt cx="6492240" cy="2834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605004" y="6364224"/>
            <a:ext cx="4320540" cy="548640"/>
            <a:chOff x="0" y="0"/>
            <a:chExt cx="576072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76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338" r="0" b="-103336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605004" y="6357080"/>
            <a:ext cx="4320540" cy="555784"/>
            <a:chOff x="0" y="0"/>
            <a:chExt cx="5760720" cy="7410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760720" cy="741045"/>
            </a:xfrm>
            <a:custGeom>
              <a:avLst/>
              <a:gdLst/>
              <a:ahLst/>
              <a:cxnLst/>
              <a:rect r="r" b="b" t="t" l="l"/>
              <a:pathLst>
                <a:path h="741045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472" r="0" b="-10147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576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Profit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05004" y="6995160"/>
            <a:ext cx="4320540" cy="1165860"/>
            <a:chOff x="0" y="0"/>
            <a:chExt cx="5760720" cy="15544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760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9" r="0" b="-22158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605004" y="6980872"/>
            <a:ext cx="4320540" cy="1180148"/>
            <a:chOff x="0" y="0"/>
            <a:chExt cx="5760720" cy="157353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60720" cy="1573530"/>
            </a:xfrm>
            <a:custGeom>
              <a:avLst/>
              <a:gdLst/>
              <a:ahLst/>
              <a:cxnLst/>
              <a:rect r="r" b="b" t="t" l="l"/>
              <a:pathLst>
                <a:path h="157353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573530"/>
                  </a:lnTo>
                  <a:lnTo>
                    <a:pt x="0" y="1573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35" r="0" b="-2133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57607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Reinvested in fleet expansion &amp; community rewards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ECONOMICS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3030200" cy="1028700"/>
            <a:chOff x="0" y="0"/>
            <a:chExt cx="17373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638" r="0" b="-1966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80408"/>
            <a:ext cx="13030200" cy="1035844"/>
            <a:chOff x="0" y="0"/>
            <a:chExt cx="173736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108" r="0" b="-195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1,000 kg of Waste a Day Delivers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2537460"/>
            <a:ext cx="4869180" cy="2125980"/>
            <a:chOff x="0" y="0"/>
            <a:chExt cx="6492240" cy="2834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2784348"/>
            <a:ext cx="4457700" cy="891540"/>
            <a:chOff x="0" y="0"/>
            <a:chExt cx="594360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8700" y="2770060"/>
            <a:ext cx="4457700" cy="905827"/>
            <a:chOff x="0" y="0"/>
            <a:chExt cx="5943600" cy="12077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1207770"/>
            </a:xfrm>
            <a:custGeom>
              <a:avLst/>
              <a:gdLst/>
              <a:ahLst/>
              <a:cxnLst/>
              <a:rect r="r" b="b" t="t" l="l"/>
              <a:pathLst>
                <a:path h="120777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7770"/>
                  </a:lnTo>
                  <a:lnTo>
                    <a:pt x="0" y="1207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88" r="0" b="-4588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943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1,000 kg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3799332"/>
            <a:ext cx="4457700" cy="754380"/>
            <a:chOff x="0" y="0"/>
            <a:chExt cx="59436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8700" y="3785044"/>
            <a:ext cx="4457700" cy="768668"/>
            <a:chOff x="0" y="0"/>
            <a:chExt cx="5943600" cy="10248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Food Waste Collected / Day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172200" y="2537460"/>
            <a:ext cx="4869180" cy="2125980"/>
            <a:chOff x="0" y="0"/>
            <a:chExt cx="6492240" cy="2834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377940" y="2784348"/>
            <a:ext cx="4457700" cy="891540"/>
            <a:chOff x="0" y="0"/>
            <a:chExt cx="5943600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377940" y="2770060"/>
            <a:ext cx="4457700" cy="905827"/>
            <a:chOff x="0" y="0"/>
            <a:chExt cx="5943600" cy="12077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1207770"/>
            </a:xfrm>
            <a:custGeom>
              <a:avLst/>
              <a:gdLst/>
              <a:ahLst/>
              <a:cxnLst/>
              <a:rect r="r" b="b" t="t" l="l"/>
              <a:pathLst>
                <a:path h="120777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7770"/>
                  </a:lnTo>
                  <a:lnTo>
                    <a:pt x="0" y="1207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88" r="0" b="-458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943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~71 kg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77940" y="3799332"/>
            <a:ext cx="4457700" cy="754380"/>
            <a:chOff x="0" y="0"/>
            <a:chExt cx="594360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377940" y="3785044"/>
            <a:ext cx="4457700" cy="768668"/>
            <a:chOff x="0" y="0"/>
            <a:chExt cx="5943600" cy="10248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Biogas Produced / Day (~7% yield)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21440" y="2537460"/>
            <a:ext cx="4869180" cy="2125980"/>
            <a:chOff x="0" y="0"/>
            <a:chExt cx="6492240" cy="2834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727180" y="2784348"/>
            <a:ext cx="4457700" cy="891540"/>
            <a:chOff x="0" y="0"/>
            <a:chExt cx="5943600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727180" y="2770060"/>
            <a:ext cx="4457700" cy="905827"/>
            <a:chOff x="0" y="0"/>
            <a:chExt cx="5943600" cy="12077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43600" cy="1207770"/>
            </a:xfrm>
            <a:custGeom>
              <a:avLst/>
              <a:gdLst/>
              <a:ahLst/>
              <a:cxnLst/>
              <a:rect r="r" b="b" t="t" l="l"/>
              <a:pathLst>
                <a:path h="120777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7770"/>
                  </a:lnTo>
                  <a:lnTo>
                    <a:pt x="0" y="1207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88" r="0" b="-4588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943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₹7,100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7180" y="3799332"/>
            <a:ext cx="4457700" cy="754380"/>
            <a:chOff x="0" y="0"/>
            <a:chExt cx="594360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727180" y="3785044"/>
            <a:ext cx="4457700" cy="768668"/>
            <a:chOff x="0" y="0"/>
            <a:chExt cx="5943600" cy="10248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Assumed Value / Day (~₹100/kg)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521440" y="5417820"/>
            <a:ext cx="4869180" cy="2125980"/>
            <a:chOff x="0" y="0"/>
            <a:chExt cx="6492240" cy="2834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727180" y="5664708"/>
            <a:ext cx="4457700" cy="891540"/>
            <a:chOff x="0" y="0"/>
            <a:chExt cx="594360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727180" y="5650420"/>
            <a:ext cx="4457700" cy="905827"/>
            <a:chOff x="0" y="0"/>
            <a:chExt cx="5943600" cy="12077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1207770"/>
            </a:xfrm>
            <a:custGeom>
              <a:avLst/>
              <a:gdLst/>
              <a:ahLst/>
              <a:cxnLst/>
              <a:rect r="r" b="b" t="t" l="l"/>
              <a:pathLst>
                <a:path h="120777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7770"/>
                  </a:lnTo>
                  <a:lnTo>
                    <a:pt x="0" y="1207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88" r="0" b="-4588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943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₹2.13 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727180" y="6679692"/>
            <a:ext cx="4457700" cy="754380"/>
            <a:chOff x="0" y="0"/>
            <a:chExt cx="594360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727180" y="6665404"/>
            <a:ext cx="4457700" cy="768668"/>
            <a:chOff x="0" y="0"/>
            <a:chExt cx="5943600" cy="10248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Gross Value / Month (30 days)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172200" y="5417820"/>
            <a:ext cx="4869180" cy="2125980"/>
            <a:chOff x="0" y="0"/>
            <a:chExt cx="6492240" cy="2834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377940" y="5664708"/>
            <a:ext cx="4457700" cy="891540"/>
            <a:chOff x="0" y="0"/>
            <a:chExt cx="5943600" cy="11887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377940" y="5650420"/>
            <a:ext cx="4457700" cy="905827"/>
            <a:chOff x="0" y="0"/>
            <a:chExt cx="5943600" cy="120777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43600" cy="1207770"/>
            </a:xfrm>
            <a:custGeom>
              <a:avLst/>
              <a:gdLst/>
              <a:ahLst/>
              <a:cxnLst/>
              <a:rect r="r" b="b" t="t" l="l"/>
              <a:pathLst>
                <a:path h="120777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7770"/>
                  </a:lnTo>
                  <a:lnTo>
                    <a:pt x="0" y="1207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88" r="0" b="-4588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943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₹85 K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377940" y="6679692"/>
            <a:ext cx="4457700" cy="754380"/>
            <a:chOff x="0" y="0"/>
            <a:chExt cx="5943600" cy="1005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377940" y="6665404"/>
            <a:ext cx="4457700" cy="768668"/>
            <a:chOff x="0" y="0"/>
            <a:chExt cx="5943600" cy="102489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Operating Costs / Month (~40%)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5417820"/>
            <a:ext cx="4869180" cy="2125980"/>
            <a:chOff x="0" y="0"/>
            <a:chExt cx="6492240" cy="2834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28700" y="5664708"/>
            <a:ext cx="4457700" cy="891540"/>
            <a:chOff x="0" y="0"/>
            <a:chExt cx="5943600" cy="11887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28700" y="5650420"/>
            <a:ext cx="4457700" cy="905827"/>
            <a:chOff x="0" y="0"/>
            <a:chExt cx="5943600" cy="120777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943600" cy="1207770"/>
            </a:xfrm>
            <a:custGeom>
              <a:avLst/>
              <a:gdLst/>
              <a:ahLst/>
              <a:cxnLst/>
              <a:rect r="r" b="b" t="t" l="l"/>
              <a:pathLst>
                <a:path h="120777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07770"/>
                  </a:lnTo>
                  <a:lnTo>
                    <a:pt x="0" y="1207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88" r="0" b="-4588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59436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₹1.28 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8700" y="6679692"/>
            <a:ext cx="4457700" cy="754380"/>
            <a:chOff x="0" y="0"/>
            <a:chExt cx="5943600" cy="1005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28700" y="6665404"/>
            <a:ext cx="4457700" cy="768668"/>
            <a:chOff x="0" y="0"/>
            <a:chExt cx="5943600" cy="102489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Estimated Profit / Month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733288" y="3435858"/>
            <a:ext cx="411480" cy="329184"/>
            <a:chOff x="0" y="0"/>
            <a:chExt cx="548640" cy="43891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082528" y="3435858"/>
            <a:ext cx="411480" cy="329184"/>
            <a:chOff x="0" y="0"/>
            <a:chExt cx="548640" cy="43891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5400000">
            <a:off x="13791438" y="4704588"/>
            <a:ext cx="329184" cy="438912"/>
            <a:chOff x="0" y="0"/>
            <a:chExt cx="438912" cy="5852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8912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">
                  <a:moveTo>
                    <a:pt x="0" y="0"/>
                  </a:moveTo>
                  <a:lnTo>
                    <a:pt x="219456" y="0"/>
                  </a:lnTo>
                  <a:lnTo>
                    <a:pt x="438912" y="292608"/>
                  </a:lnTo>
                  <a:lnTo>
                    <a:pt x="219456" y="585216"/>
                  </a:lnTo>
                  <a:lnTo>
                    <a:pt x="0" y="585216"/>
                  </a:lnTo>
                  <a:lnTo>
                    <a:pt x="219456" y="292608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-10800000">
            <a:off x="11082528" y="6316218"/>
            <a:ext cx="411480" cy="329184"/>
            <a:chOff x="0" y="0"/>
            <a:chExt cx="548640" cy="43891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-10800000">
            <a:off x="5733288" y="6316218"/>
            <a:ext cx="411480" cy="329184"/>
            <a:chOff x="0" y="0"/>
            <a:chExt cx="548640" cy="4389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22960" y="7927848"/>
            <a:ext cx="16637508" cy="685800"/>
            <a:chOff x="0" y="0"/>
            <a:chExt cx="22183344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377" r="0" b="-422379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822960" y="7899273"/>
            <a:ext cx="16637508" cy="714375"/>
            <a:chOff x="0" y="0"/>
            <a:chExt cx="22183344" cy="9525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183344" cy="952500"/>
            </a:xfrm>
            <a:custGeom>
              <a:avLst/>
              <a:gdLst/>
              <a:ahLst/>
              <a:cxnLst/>
              <a:rect r="r" b="b" t="t" l="l"/>
              <a:pathLst>
                <a:path h="9525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798" r="0" b="-40379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2183344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7A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Illustrative figures for a single pilot-scale plant. Assumes ~7% waste-to-biogas conversion by weight and an indicative ₹100/kg biogas value; actual results depend on waste composition, plant efficiency and local pricing.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BIOGAS USAGE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3030200" cy="1028700"/>
            <a:chOff x="0" y="0"/>
            <a:chExt cx="17373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638" r="0" b="-1966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80408"/>
            <a:ext cx="13030200" cy="1035844"/>
            <a:chOff x="0" y="0"/>
            <a:chExt cx="173736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108" r="0" b="-195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Where Biogas Powers Daily Campus Life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6420">
            <a:off x="1465831" y="3885247"/>
            <a:ext cx="15351766" cy="0"/>
          </a:xfrm>
          <a:prstGeom prst="line">
            <a:avLst/>
          </a:prstGeom>
          <a:ln cap="rnd" w="19050">
            <a:solidFill>
              <a:srgbClr val="A9C9A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523619" y="3223260"/>
            <a:ext cx="1371600" cy="1371600"/>
            <a:chOff x="0" y="0"/>
            <a:chExt cx="182880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01927" y="3401568"/>
            <a:ext cx="1014984" cy="1014984"/>
            <a:chOff x="0" y="0"/>
            <a:chExt cx="1353312" cy="1353312"/>
          </a:xfrm>
        </p:grpSpPr>
        <p:sp>
          <p:nvSpPr>
            <p:cNvPr name="Freeform 26" id="26" descr="/home/claude/ecogas/icons/waste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6399" y="4759452"/>
            <a:ext cx="2606040" cy="411480"/>
            <a:chOff x="0" y="0"/>
            <a:chExt cx="34747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06399" y="4752308"/>
            <a:ext cx="2606040" cy="418624"/>
            <a:chOff x="0" y="0"/>
            <a:chExt cx="3474720" cy="558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Hostel Mess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0659" y="5198364"/>
            <a:ext cx="3017520" cy="822960"/>
            <a:chOff x="0" y="0"/>
            <a:chExt cx="402336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00659" y="5169789"/>
            <a:ext cx="3017520" cy="851535"/>
            <a:chOff x="0" y="0"/>
            <a:chExt cx="4023360" cy="11353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Cooks daily meals for hundreds of students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296537" y="3223260"/>
            <a:ext cx="1371600" cy="1371600"/>
            <a:chOff x="0" y="0"/>
            <a:chExt cx="182880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474845" y="3401568"/>
            <a:ext cx="1014984" cy="1014984"/>
            <a:chOff x="0" y="0"/>
            <a:chExt cx="1353312" cy="1353312"/>
          </a:xfrm>
        </p:grpSpPr>
        <p:sp>
          <p:nvSpPr>
            <p:cNvPr name="Freeform 40" id="40" descr="/home/claude/ecogas/icons/filter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79317" y="4759452"/>
            <a:ext cx="2606040" cy="411480"/>
            <a:chOff x="0" y="0"/>
            <a:chExt cx="34747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679317" y="4752308"/>
            <a:ext cx="2606040" cy="418624"/>
            <a:chOff x="0" y="0"/>
            <a:chExt cx="3474720" cy="5581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Canteen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473577" y="5198364"/>
            <a:ext cx="3017520" cy="822960"/>
            <a:chOff x="0" y="0"/>
            <a:chExt cx="402336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473577" y="5169789"/>
            <a:ext cx="3017520" cy="851535"/>
            <a:chOff x="0" y="0"/>
            <a:chExt cx="4023360" cy="11353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stoves for breakfast, lunch and snacks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069455" y="3223260"/>
            <a:ext cx="1371600" cy="1371600"/>
            <a:chOff x="0" y="0"/>
            <a:chExt cx="182880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247763" y="3401568"/>
            <a:ext cx="1014984" cy="1014984"/>
            <a:chOff x="0" y="0"/>
            <a:chExt cx="1353312" cy="1353312"/>
          </a:xfrm>
        </p:grpSpPr>
        <p:sp>
          <p:nvSpPr>
            <p:cNvPr name="Freeform 54" id="54" descr="/home/claude/ecogas/icons/factory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452235" y="4759452"/>
            <a:ext cx="2606040" cy="411480"/>
            <a:chOff x="0" y="0"/>
            <a:chExt cx="347472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452235" y="4752308"/>
            <a:ext cx="2606040" cy="418624"/>
            <a:chOff x="0" y="0"/>
            <a:chExt cx="3474720" cy="55816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Hotel Kitchen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46495" y="5198364"/>
            <a:ext cx="3017520" cy="822960"/>
            <a:chOff x="0" y="0"/>
            <a:chExt cx="402336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246495" y="5169789"/>
            <a:ext cx="3017520" cy="851535"/>
            <a:chOff x="0" y="0"/>
            <a:chExt cx="4023360" cy="11353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Powers cooking for large hotel kitchens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42373" y="3223260"/>
            <a:ext cx="1371600" cy="1371600"/>
            <a:chOff x="0" y="0"/>
            <a:chExt cx="1828800" cy="182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020681" y="3401568"/>
            <a:ext cx="1014984" cy="1014984"/>
            <a:chOff x="0" y="0"/>
            <a:chExt cx="1353312" cy="1353312"/>
          </a:xfrm>
        </p:grpSpPr>
        <p:sp>
          <p:nvSpPr>
            <p:cNvPr name="Freeform 68" id="68" descr="/home/claude/ecogas/icons/flame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225153" y="4759452"/>
            <a:ext cx="2606040" cy="411480"/>
            <a:chOff x="0" y="0"/>
            <a:chExt cx="347472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225153" y="4752308"/>
            <a:ext cx="2606040" cy="418624"/>
            <a:chOff x="0" y="0"/>
            <a:chExt cx="3474720" cy="55816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Water Heating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019413" y="5198364"/>
            <a:ext cx="3017520" cy="822960"/>
            <a:chOff x="0" y="0"/>
            <a:chExt cx="402336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019413" y="5169789"/>
            <a:ext cx="3017520" cy="851535"/>
            <a:chOff x="0" y="0"/>
            <a:chExt cx="4023360" cy="11353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Heats water for hostel bathrooms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615291" y="3223260"/>
            <a:ext cx="1371600" cy="1371600"/>
            <a:chOff x="0" y="0"/>
            <a:chExt cx="1828800" cy="1828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793599" y="3401568"/>
            <a:ext cx="1014984" cy="1014984"/>
            <a:chOff x="0" y="0"/>
            <a:chExt cx="1353312" cy="1353312"/>
          </a:xfrm>
        </p:grpSpPr>
        <p:sp>
          <p:nvSpPr>
            <p:cNvPr name="Freeform 82" id="82" descr="/home/claude/ecogas/icons/droplet_white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998071" y="4759452"/>
            <a:ext cx="2606040" cy="411480"/>
            <a:chOff x="0" y="0"/>
            <a:chExt cx="347472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998071" y="4752308"/>
            <a:ext cx="2606040" cy="418624"/>
            <a:chOff x="0" y="0"/>
            <a:chExt cx="3474720" cy="55816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Backup Power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792331" y="5198364"/>
            <a:ext cx="3017520" cy="822960"/>
            <a:chOff x="0" y="0"/>
            <a:chExt cx="4023360" cy="10972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792331" y="5169789"/>
            <a:ext cx="3017520" cy="851535"/>
            <a:chOff x="0" y="0"/>
            <a:chExt cx="4023360" cy="11353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Fuels generators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during power cuts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388209" y="3223260"/>
            <a:ext cx="1371600" cy="1371600"/>
            <a:chOff x="0" y="0"/>
            <a:chExt cx="1828800" cy="1828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5566517" y="3401568"/>
            <a:ext cx="1014984" cy="1014984"/>
            <a:chOff x="0" y="0"/>
            <a:chExt cx="1353312" cy="1353312"/>
          </a:xfrm>
        </p:grpSpPr>
        <p:sp>
          <p:nvSpPr>
            <p:cNvPr name="Freeform 96" id="96" descr="/home/claude/ecogas/icons/bolt_forest.png"/>
            <p:cNvSpPr/>
            <p:nvPr/>
          </p:nvSpPr>
          <p:spPr>
            <a:xfrm flipH="false" flipV="false" rot="0">
              <a:off x="0" y="0"/>
              <a:ext cx="1353312" cy="1353312"/>
            </a:xfrm>
            <a:custGeom>
              <a:avLst/>
              <a:gdLst/>
              <a:ahLst/>
              <a:cxnLst/>
              <a:rect r="r" b="b" t="t" l="l"/>
              <a:pathLst>
                <a:path h="1353312" w="1353312">
                  <a:moveTo>
                    <a:pt x="0" y="0"/>
                  </a:moveTo>
                  <a:lnTo>
                    <a:pt x="1353312" y="0"/>
                  </a:lnTo>
                  <a:lnTo>
                    <a:pt x="1353312" y="1353312"/>
                  </a:lnTo>
                  <a:lnTo>
                    <a:pt x="0" y="135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770989" y="4759452"/>
            <a:ext cx="2606040" cy="411480"/>
            <a:chOff x="0" y="0"/>
            <a:chExt cx="347472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319" r="0" b="-7331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4770989" y="4752308"/>
            <a:ext cx="2606040" cy="418624"/>
            <a:chOff x="0" y="0"/>
            <a:chExt cx="3474720" cy="55816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474720" cy="558165"/>
            </a:xfrm>
            <a:custGeom>
              <a:avLst/>
              <a:gdLst/>
              <a:ahLst/>
              <a:cxnLst/>
              <a:rect r="r" b="b" t="t" l="l"/>
              <a:pathLst>
                <a:path h="558165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99" r="0" b="-7129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Street Stalls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565249" y="5198364"/>
            <a:ext cx="3017520" cy="822960"/>
            <a:chOff x="0" y="0"/>
            <a:chExt cx="4023360" cy="10972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95" r="0" b="-21394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565249" y="5169789"/>
            <a:ext cx="3017520" cy="851535"/>
            <a:chOff x="0" y="0"/>
            <a:chExt cx="4023360" cy="11353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023360" cy="1135380"/>
            </a:xfrm>
            <a:custGeom>
              <a:avLst/>
              <a:gdLst/>
              <a:ahLst/>
              <a:cxnLst/>
              <a:rect r="r" b="b" t="t" l="l"/>
              <a:pathLst>
                <a:path h="11353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47" r="0" b="-1904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0233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Supplies clean fuel to nearby food stalls</a:t>
              </a:r>
            </a:p>
          </p:txBody>
        </p:sp>
      </p:grpSp>
      <p:sp>
        <p:nvSpPr>
          <p:cNvPr name="AutoShape 107" id="107"/>
          <p:cNvSpPr/>
          <p:nvPr/>
        </p:nvSpPr>
        <p:spPr>
          <a:xfrm rot="34320">
            <a:off x="6800612" y="6667500"/>
            <a:ext cx="1909286" cy="0"/>
          </a:xfrm>
          <a:prstGeom prst="line">
            <a:avLst/>
          </a:prstGeom>
          <a:ln cap="rnd" w="19050">
            <a:solidFill>
              <a:srgbClr val="C982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8" id="108"/>
          <p:cNvGrpSpPr/>
          <p:nvPr/>
        </p:nvGrpSpPr>
        <p:grpSpPr>
          <a:xfrm rot="5400000">
            <a:off x="7604379" y="7228332"/>
            <a:ext cx="301752" cy="329184"/>
            <a:chOff x="0" y="0"/>
            <a:chExt cx="402336" cy="43891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02336" cy="438912"/>
            </a:xfrm>
            <a:custGeom>
              <a:avLst/>
              <a:gdLst/>
              <a:ahLst/>
              <a:cxnLst/>
              <a:rect r="r" b="b" t="t" l="l"/>
              <a:pathLst>
                <a:path h="438912" w="402336">
                  <a:moveTo>
                    <a:pt x="0" y="0"/>
                  </a:moveTo>
                  <a:lnTo>
                    <a:pt x="201168" y="0"/>
                  </a:lnTo>
                  <a:lnTo>
                    <a:pt x="402336" y="219456"/>
                  </a:lnTo>
                  <a:lnTo>
                    <a:pt x="201168" y="438912"/>
                  </a:lnTo>
                  <a:lnTo>
                    <a:pt x="0" y="438912"/>
                  </a:lnTo>
                  <a:lnTo>
                    <a:pt x="201168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4600575" y="7612380"/>
            <a:ext cx="6309360" cy="1508760"/>
            <a:chOff x="0" y="0"/>
            <a:chExt cx="8412480" cy="2011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412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412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193024" y="0"/>
                  </a:lnTo>
                  <a:cubicBezTo>
                    <a:pt x="8314182" y="0"/>
                    <a:pt x="8412480" y="98298"/>
                    <a:pt x="8412480" y="219456"/>
                  </a:cubicBezTo>
                  <a:lnTo>
                    <a:pt x="8412480" y="1792224"/>
                  </a:lnTo>
                  <a:cubicBezTo>
                    <a:pt x="8412480" y="1913382"/>
                    <a:pt x="8314182" y="2011680"/>
                    <a:pt x="8193024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902327" y="7914132"/>
            <a:ext cx="905256" cy="905256"/>
            <a:chOff x="0" y="0"/>
            <a:chExt cx="1207008" cy="120700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5020008" y="8031813"/>
            <a:ext cx="669893" cy="669893"/>
            <a:chOff x="0" y="0"/>
            <a:chExt cx="893191" cy="893191"/>
          </a:xfrm>
        </p:grpSpPr>
        <p:sp>
          <p:nvSpPr>
            <p:cNvPr name="Freeform 115" id="115" descr="/home/claude/ecogas/icons/seedling_white.png"/>
            <p:cNvSpPr/>
            <p:nvPr/>
          </p:nvSpPr>
          <p:spPr>
            <a:xfrm flipH="false" flipV="false" rot="0">
              <a:off x="0" y="0"/>
              <a:ext cx="893191" cy="893191"/>
            </a:xfrm>
            <a:custGeom>
              <a:avLst/>
              <a:gdLst/>
              <a:ahLst/>
              <a:cxnLst/>
              <a:rect r="r" b="b" t="t" l="l"/>
              <a:pathLst>
                <a:path h="893191" w="893191">
                  <a:moveTo>
                    <a:pt x="0" y="0"/>
                  </a:moveTo>
                  <a:lnTo>
                    <a:pt x="893191" y="0"/>
                  </a:lnTo>
                  <a:lnTo>
                    <a:pt x="893191" y="893191"/>
                  </a:lnTo>
                  <a:lnTo>
                    <a:pt x="0" y="893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040755" y="7831836"/>
            <a:ext cx="4663440" cy="466344"/>
            <a:chOff x="0" y="0"/>
            <a:chExt cx="6217920" cy="6217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217920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6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6040755" y="7817549"/>
            <a:ext cx="4663440" cy="480632"/>
            <a:chOff x="0" y="0"/>
            <a:chExt cx="6217920" cy="64084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17920" cy="640842"/>
            </a:xfrm>
            <a:custGeom>
              <a:avLst/>
              <a:gdLst/>
              <a:ahLst/>
              <a:cxnLst/>
              <a:rect r="r" b="b" t="t" l="l"/>
              <a:pathLst>
                <a:path h="64084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842"/>
                  </a:lnTo>
                  <a:lnTo>
                    <a:pt x="0" y="640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058" r="0" b="-139058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62179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One Plant, Many Daily Uses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6040755" y="8298180"/>
            <a:ext cx="4663440" cy="754380"/>
            <a:chOff x="0" y="0"/>
            <a:chExt cx="6217920" cy="1005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179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68" r="0" b="-70369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6040755" y="8283893"/>
            <a:ext cx="4663440" cy="768668"/>
            <a:chOff x="0" y="0"/>
            <a:chExt cx="6217920" cy="102489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17920" cy="1024890"/>
            </a:xfrm>
            <a:custGeom>
              <a:avLst/>
              <a:gdLst/>
              <a:ahLst/>
              <a:cxnLst/>
              <a:rect r="r" b="b" t="t" l="l"/>
              <a:pathLst>
                <a:path h="102489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214" r="0" b="-6821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62179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single campus plant can fuel a hostel mess, canteen and nearby hotel together.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CAMPUS SCALE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987552"/>
            <a:ext cx="13030200" cy="1028700"/>
            <a:chOff x="0" y="0"/>
            <a:chExt cx="173736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7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638" r="0" b="-19663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980408"/>
            <a:ext cx="13030200" cy="1035844"/>
            <a:chOff x="0" y="0"/>
            <a:chExt cx="17373600" cy="1381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1381125"/>
            </a:xfrm>
            <a:custGeom>
              <a:avLst/>
              <a:gdLst/>
              <a:ahLst/>
              <a:cxnLst/>
              <a:rect r="r" b="b" t="t" l="l"/>
              <a:pathLst>
                <a:path h="1381125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108" r="0" b="-19510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8"/>
                </a:lnSpc>
              </a:pPr>
              <a:r>
                <a:rPr lang="en-US" sz="48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a College Campus Generates Daily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2537460"/>
            <a:ext cx="4869180" cy="2125980"/>
            <a:chOff x="0" y="0"/>
            <a:chExt cx="6492240" cy="2834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2784348"/>
            <a:ext cx="4457700" cy="891540"/>
            <a:chOff x="0" y="0"/>
            <a:chExt cx="594360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7938" y="1948653"/>
            <a:ext cx="4457700" cy="3303594"/>
            <a:chOff x="0" y="0"/>
            <a:chExt cx="5943600" cy="4404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82" r="0" b="599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943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150 kg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3799332"/>
            <a:ext cx="4457700" cy="754380"/>
            <a:chOff x="0" y="0"/>
            <a:chExt cx="59436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46988" y="3722237"/>
            <a:ext cx="4457700" cy="768668"/>
            <a:chOff x="0" y="0"/>
            <a:chExt cx="5943600" cy="10248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Hostel &amp; Canteen Waste / Day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172200" y="2537460"/>
            <a:ext cx="4869180" cy="2125980"/>
            <a:chOff x="0" y="0"/>
            <a:chExt cx="6492240" cy="2834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377940" y="2784348"/>
            <a:ext cx="4457700" cy="891540"/>
            <a:chOff x="0" y="0"/>
            <a:chExt cx="5943600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96134" y="1890645"/>
            <a:ext cx="4457700" cy="3303594"/>
            <a:chOff x="0" y="0"/>
            <a:chExt cx="5943600" cy="44047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82" r="0" b="5999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943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~14 kg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77940" y="3799332"/>
            <a:ext cx="4457700" cy="754380"/>
            <a:chOff x="0" y="0"/>
            <a:chExt cx="594360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377940" y="3785044"/>
            <a:ext cx="4457700" cy="768668"/>
            <a:chOff x="0" y="0"/>
            <a:chExt cx="5943600" cy="10248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Biogas Produced / Day (~7% yield)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21440" y="2537460"/>
            <a:ext cx="4869180" cy="2125980"/>
            <a:chOff x="0" y="0"/>
            <a:chExt cx="6492240" cy="2834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727180" y="2784348"/>
            <a:ext cx="4457700" cy="891540"/>
            <a:chOff x="0" y="0"/>
            <a:chExt cx="5943600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646408" y="1948653"/>
            <a:ext cx="4457700" cy="3303594"/>
            <a:chOff x="0" y="0"/>
            <a:chExt cx="5943600" cy="4404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43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82" r="0" b="5999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943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₹1200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7180" y="3799332"/>
            <a:ext cx="4457700" cy="754380"/>
            <a:chOff x="0" y="0"/>
            <a:chExt cx="594360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727180" y="3785044"/>
            <a:ext cx="4457700" cy="768667"/>
            <a:chOff x="0" y="0"/>
            <a:chExt cx="5943600" cy="10248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Assumed Value / Day (~₹100/kg)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521440" y="5417820"/>
            <a:ext cx="4869180" cy="2125980"/>
            <a:chOff x="0" y="0"/>
            <a:chExt cx="6492240" cy="2834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5C8D67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727180" y="5664708"/>
            <a:ext cx="4457700" cy="891540"/>
            <a:chOff x="0" y="0"/>
            <a:chExt cx="594360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727180" y="4759452"/>
            <a:ext cx="4457700" cy="3303594"/>
            <a:chOff x="0" y="0"/>
            <a:chExt cx="5943600" cy="4404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82" r="0" b="5999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943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₹36,000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727180" y="6679692"/>
            <a:ext cx="4457700" cy="754380"/>
            <a:chOff x="0" y="0"/>
            <a:chExt cx="594360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727180" y="6665404"/>
            <a:ext cx="4457700" cy="768668"/>
            <a:chOff x="0" y="0"/>
            <a:chExt cx="5943600" cy="10248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Gross Value / Month (30 days)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172200" y="5417820"/>
            <a:ext cx="4869180" cy="2125980"/>
            <a:chOff x="0" y="0"/>
            <a:chExt cx="6492240" cy="2834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377940" y="5664708"/>
            <a:ext cx="4457700" cy="891540"/>
            <a:chOff x="0" y="0"/>
            <a:chExt cx="5943600" cy="11887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296134" y="4829013"/>
            <a:ext cx="4457700" cy="3303594"/>
            <a:chOff x="0" y="0"/>
            <a:chExt cx="5943600" cy="44047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43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82" r="0" b="5999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943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₹14,400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377940" y="6679692"/>
            <a:ext cx="4457700" cy="754380"/>
            <a:chOff x="0" y="0"/>
            <a:chExt cx="5943600" cy="10058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377940" y="6665404"/>
            <a:ext cx="4457700" cy="768668"/>
            <a:chOff x="0" y="0"/>
            <a:chExt cx="5943600" cy="102489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Operating Costs / Month (~40%)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5417820"/>
            <a:ext cx="4869180" cy="2125980"/>
            <a:chOff x="0" y="0"/>
            <a:chExt cx="6492240" cy="2834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492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92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272784" y="0"/>
                  </a:lnTo>
                  <a:cubicBezTo>
                    <a:pt x="6393942" y="0"/>
                    <a:pt x="6492240" y="98298"/>
                    <a:pt x="6492240" y="219456"/>
                  </a:cubicBezTo>
                  <a:lnTo>
                    <a:pt x="6492240" y="2615184"/>
                  </a:lnTo>
                  <a:cubicBezTo>
                    <a:pt x="6492240" y="2736342"/>
                    <a:pt x="6393942" y="2834640"/>
                    <a:pt x="627278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A93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28700" y="5664708"/>
            <a:ext cx="4457700" cy="891540"/>
            <a:chOff x="0" y="0"/>
            <a:chExt cx="5943600" cy="11887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943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85800" y="4759452"/>
            <a:ext cx="4457700" cy="3303594"/>
            <a:chOff x="0" y="0"/>
            <a:chExt cx="5943600" cy="44047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943600" cy="4404792"/>
            </a:xfrm>
            <a:custGeom>
              <a:avLst/>
              <a:gdLst/>
              <a:ahLst/>
              <a:cxnLst/>
              <a:rect r="r" b="b" t="t" l="l"/>
              <a:pathLst>
                <a:path h="440479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82" r="0" b="5999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5943600" cy="4423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₹21600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8700" y="6679692"/>
            <a:ext cx="4457700" cy="754380"/>
            <a:chOff x="0" y="0"/>
            <a:chExt cx="5943600" cy="1005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59" r="0" b="-65058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28700" y="6665404"/>
            <a:ext cx="4457700" cy="768668"/>
            <a:chOff x="0" y="0"/>
            <a:chExt cx="5943600" cy="102489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4360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98" r="0" b="-6299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59436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233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Estimated Savings / Month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733288" y="3435858"/>
            <a:ext cx="411480" cy="329184"/>
            <a:chOff x="0" y="0"/>
            <a:chExt cx="548640" cy="43891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082528" y="3435858"/>
            <a:ext cx="411480" cy="329184"/>
            <a:chOff x="0" y="0"/>
            <a:chExt cx="548640" cy="43891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5400000">
            <a:off x="13791438" y="4704588"/>
            <a:ext cx="329184" cy="438912"/>
            <a:chOff x="0" y="0"/>
            <a:chExt cx="438912" cy="58521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8912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">
                  <a:moveTo>
                    <a:pt x="0" y="0"/>
                  </a:moveTo>
                  <a:lnTo>
                    <a:pt x="219456" y="0"/>
                  </a:lnTo>
                  <a:lnTo>
                    <a:pt x="438912" y="292608"/>
                  </a:lnTo>
                  <a:lnTo>
                    <a:pt x="219456" y="585216"/>
                  </a:lnTo>
                  <a:lnTo>
                    <a:pt x="0" y="585216"/>
                  </a:lnTo>
                  <a:lnTo>
                    <a:pt x="219456" y="292608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-10800000">
            <a:off x="11082528" y="6316218"/>
            <a:ext cx="411480" cy="329184"/>
            <a:chOff x="0" y="0"/>
            <a:chExt cx="548640" cy="43891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-10800000">
            <a:off x="5733288" y="6316218"/>
            <a:ext cx="411480" cy="329184"/>
            <a:chOff x="0" y="0"/>
            <a:chExt cx="548640" cy="4389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48640" cy="438912"/>
            </a:xfrm>
            <a:custGeom>
              <a:avLst/>
              <a:gdLst/>
              <a:ahLst/>
              <a:cxnLst/>
              <a:rect r="r" b="b" t="t" l="l"/>
              <a:pathLst>
                <a:path h="438912" w="548640">
                  <a:moveTo>
                    <a:pt x="0" y="0"/>
                  </a:moveTo>
                  <a:lnTo>
                    <a:pt x="329184" y="0"/>
                  </a:lnTo>
                  <a:lnTo>
                    <a:pt x="548640" y="219456"/>
                  </a:lnTo>
                  <a:lnTo>
                    <a:pt x="329184" y="438912"/>
                  </a:lnTo>
                  <a:lnTo>
                    <a:pt x="0" y="438912"/>
                  </a:lnTo>
                  <a:lnTo>
                    <a:pt x="219456" y="219456"/>
                  </a:ln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22960" y="7927848"/>
            <a:ext cx="16637508" cy="685800"/>
            <a:chOff x="0" y="0"/>
            <a:chExt cx="22183344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377" r="0" b="-42237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797" r="0" b="-2837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40353"/>
            <a:ext cx="8229600" cy="515779"/>
            <a:chOff x="0" y="0"/>
            <a:chExt cx="10972800" cy="6877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87705"/>
            </a:xfrm>
            <a:custGeom>
              <a:avLst/>
              <a:gdLst/>
              <a:ahLst/>
              <a:cxnLst/>
              <a:rect r="r" b="b" t="t" l="l"/>
              <a:pathLst>
                <a:path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97" r="0" b="-260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8">
                  <a:solidFill>
                    <a:srgbClr val="C982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4728" y="9710928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7036" t="0" r="-2703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254728" y="9682353"/>
            <a:ext cx="685800" cy="440055"/>
            <a:chOff x="0" y="0"/>
            <a:chExt cx="914400" cy="586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86740"/>
            </a:xfrm>
            <a:custGeom>
              <a:avLst/>
              <a:gdLst/>
              <a:ahLst/>
              <a:cxnLst/>
              <a:rect r="r" b="b" t="t" l="l"/>
              <a:pathLst>
                <a:path h="5867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328" t="0" r="-32328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2743200" cy="411480"/>
            <a:chOff x="0" y="0"/>
            <a:chExt cx="36576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10" r="0" b="-798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5800" y="9682353"/>
            <a:ext cx="2743200" cy="440055"/>
            <a:chOff x="0" y="0"/>
            <a:chExt cx="36576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465" r="0" b="-714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300">
                  <a:solidFill>
                    <a:srgbClr val="6B7A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 GAS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331720"/>
            <a:ext cx="8023860" cy="5554980"/>
            <a:chOff x="0" y="0"/>
            <a:chExt cx="10698480" cy="7406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2811780"/>
            <a:ext cx="987552" cy="987552"/>
            <a:chOff x="0" y="0"/>
            <a:chExt cx="1316736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31398" y="2940158"/>
            <a:ext cx="730758" cy="730758"/>
            <a:chOff x="0" y="0"/>
            <a:chExt cx="974344" cy="974344"/>
          </a:xfrm>
        </p:grpSpPr>
        <p:sp>
          <p:nvSpPr>
            <p:cNvPr name="Freeform 22" id="22" descr="/home/claude/ecogas/icons/waste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70712" y="2098053"/>
            <a:ext cx="5966460" cy="2415007"/>
            <a:chOff x="0" y="0"/>
            <a:chExt cx="7955280" cy="32200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55280" cy="3219958"/>
            </a:xfrm>
            <a:custGeom>
              <a:avLst/>
              <a:gdLst/>
              <a:ahLst/>
              <a:cxnLst/>
              <a:rect r="r" b="b" t="t" l="l"/>
              <a:pathLst>
                <a:path h="3219958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19958"/>
                  </a:lnTo>
                  <a:lnTo>
                    <a:pt x="0" y="3219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68" t="0" r="-1968" b="-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570712" y="2090909"/>
            <a:ext cx="5966460" cy="2422150"/>
            <a:chOff x="0" y="0"/>
            <a:chExt cx="7955280" cy="32295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55280" cy="3229534"/>
            </a:xfrm>
            <a:custGeom>
              <a:avLst/>
              <a:gdLst/>
              <a:ahLst/>
              <a:cxnLst/>
              <a:rect r="r" b="b" t="t" l="l"/>
              <a:pathLst>
                <a:path h="3229534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3229534"/>
                  </a:lnTo>
                  <a:lnTo>
                    <a:pt x="0" y="3229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86" t="0" r="-208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955280" cy="32390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233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For the Campus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4134879"/>
            <a:ext cx="7508472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Cuts hostel and canteen LPG expenses.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bad odour from rotting waste.</a:t>
            </a:r>
          </a:p>
          <a:p>
            <a:pPr algn="l" marL="660522" indent="-220174" lvl="2">
              <a:lnSpc>
                <a:spcPts val="3754"/>
              </a:lnSpc>
              <a:buFont typeface="Arial"/>
              <a:buChar char="⚬"/>
            </a:pPr>
            <a:r>
              <a:rPr lang="en-US" sz="3128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Creates a visible sustainability model.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26880" y="2331720"/>
            <a:ext cx="8023860" cy="5554980"/>
            <a:chOff x="0" y="0"/>
            <a:chExt cx="10698480" cy="7406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069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7187184"/>
                  </a:lnTo>
                  <a:cubicBezTo>
                    <a:pt x="10698480" y="7308342"/>
                    <a:pt x="10600182" y="7406640"/>
                    <a:pt x="104790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EEF3E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06940" y="2811780"/>
            <a:ext cx="987552" cy="987552"/>
            <a:chOff x="0" y="0"/>
            <a:chExt cx="1316736" cy="13167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C9821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935318" y="2940158"/>
            <a:ext cx="730758" cy="730758"/>
            <a:chOff x="0" y="0"/>
            <a:chExt cx="974344" cy="974344"/>
          </a:xfrm>
        </p:grpSpPr>
        <p:sp>
          <p:nvSpPr>
            <p:cNvPr name="Freeform 34" id="34" descr="/home/claude/ecogas/icons/lpg_white.png"/>
            <p:cNvSpPr/>
            <p:nvPr/>
          </p:nvSpPr>
          <p:spPr>
            <a:xfrm flipH="false" flipV="false" rot="0">
              <a:off x="0" y="0"/>
              <a:ext cx="974344" cy="974344"/>
            </a:xfrm>
            <a:custGeom>
              <a:avLst/>
              <a:gdLst/>
              <a:ahLst/>
              <a:cxnLst/>
              <a:rect r="r" b="b" t="t" l="l"/>
              <a:pathLst>
                <a:path h="974344" w="974344">
                  <a:moveTo>
                    <a:pt x="0" y="0"/>
                  </a:moveTo>
                  <a:lnTo>
                    <a:pt x="974344" y="0"/>
                  </a:lnTo>
                  <a:lnTo>
                    <a:pt x="974344" y="974344"/>
                  </a:lnTo>
                  <a:lnTo>
                    <a:pt x="0" y="974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612630" y="4134879"/>
            <a:ext cx="7452360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Stops methane escaping from open waste.</a:t>
            </a:r>
          </a:p>
          <a:p>
            <a:pPr algn="l" marL="613791" indent="-204597" lvl="2">
              <a:lnSpc>
                <a:spcPts val="3487"/>
              </a:lnSpc>
              <a:buFont typeface="Arial"/>
              <a:buChar char="⚬"/>
            </a:pPr>
            <a:r>
              <a:rPr lang="en-US" sz="290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Converts daily waste into renewable fuel.</a:t>
            </a:r>
          </a:p>
          <a:p>
            <a:pPr algn="l" marL="693616" indent="-231205" lvl="2">
              <a:lnSpc>
                <a:spcPts val="3941"/>
              </a:lnSpc>
              <a:buFont typeface="Arial"/>
              <a:buChar char="⚬"/>
            </a:pPr>
            <a:r>
              <a:rPr lang="en-US" sz="3284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Turns leftover slurry into farm fertilizer.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30664" y="3038846"/>
            <a:ext cx="56449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12332A"/>
                </a:solidFill>
                <a:latin typeface="Cambria Bold"/>
                <a:ea typeface="Cambria Bold"/>
                <a:cs typeface="Cambria Bold"/>
                <a:sym typeface="Cambria Bold"/>
              </a:rPr>
              <a:t>For the Environment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105" y="1281817"/>
            <a:ext cx="908161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8"/>
              </a:lnSpc>
            </a:pPr>
            <a:r>
              <a:rPr lang="en-US" sz="3899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Good for Campus, Good for the Planet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839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3366" y="886737"/>
            <a:ext cx="18775257" cy="9238251"/>
            <a:chOff x="0" y="0"/>
            <a:chExt cx="12954000" cy="63739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54000" cy="6373938"/>
            </a:xfrm>
            <a:custGeom>
              <a:avLst/>
              <a:gdLst/>
              <a:ahLst/>
              <a:cxnLst/>
              <a:rect r="r" b="b" t="t" l="l"/>
              <a:pathLst>
                <a:path h="6373938" w="12954000">
                  <a:moveTo>
                    <a:pt x="12954000" y="640885"/>
                  </a:moveTo>
                  <a:lnTo>
                    <a:pt x="12954000" y="5733054"/>
                  </a:lnTo>
                  <a:cubicBezTo>
                    <a:pt x="12954000" y="6087006"/>
                    <a:pt x="12591519" y="6373938"/>
                    <a:pt x="12144375" y="6373938"/>
                  </a:cubicBezTo>
                  <a:cubicBezTo>
                    <a:pt x="11697231" y="6373938"/>
                    <a:pt x="11334750" y="6087004"/>
                    <a:pt x="11334750" y="5733054"/>
                  </a:cubicBezTo>
                  <a:cubicBezTo>
                    <a:pt x="11334750" y="6087006"/>
                    <a:pt x="10972269" y="6373938"/>
                    <a:pt x="10525125" y="6373938"/>
                  </a:cubicBezTo>
                  <a:cubicBezTo>
                    <a:pt x="10077981" y="6373938"/>
                    <a:pt x="9715500" y="6087004"/>
                    <a:pt x="9715500" y="5733054"/>
                  </a:cubicBezTo>
                  <a:cubicBezTo>
                    <a:pt x="9715500" y="6087006"/>
                    <a:pt x="9353021" y="6373938"/>
                    <a:pt x="8905875" y="6373938"/>
                  </a:cubicBezTo>
                  <a:cubicBezTo>
                    <a:pt x="8458729" y="6373938"/>
                    <a:pt x="8096250" y="6087004"/>
                    <a:pt x="8096250" y="5733054"/>
                  </a:cubicBezTo>
                  <a:cubicBezTo>
                    <a:pt x="8096250" y="6087006"/>
                    <a:pt x="7733771" y="6373938"/>
                    <a:pt x="7286625" y="6373938"/>
                  </a:cubicBezTo>
                  <a:cubicBezTo>
                    <a:pt x="6839479" y="6373938"/>
                    <a:pt x="6477000" y="6087004"/>
                    <a:pt x="6477000" y="5733054"/>
                  </a:cubicBezTo>
                  <a:cubicBezTo>
                    <a:pt x="6477000" y="6087006"/>
                    <a:pt x="6114521" y="6373938"/>
                    <a:pt x="5667375" y="6373938"/>
                  </a:cubicBezTo>
                  <a:cubicBezTo>
                    <a:pt x="5220229" y="6373938"/>
                    <a:pt x="4857750" y="6087004"/>
                    <a:pt x="4857750" y="5733054"/>
                  </a:cubicBezTo>
                  <a:cubicBezTo>
                    <a:pt x="4857750" y="6087006"/>
                    <a:pt x="4495271" y="6373938"/>
                    <a:pt x="4048125" y="6373938"/>
                  </a:cubicBezTo>
                  <a:cubicBezTo>
                    <a:pt x="3600979" y="6373938"/>
                    <a:pt x="3238500" y="6087004"/>
                    <a:pt x="3238500" y="5733054"/>
                  </a:cubicBezTo>
                  <a:cubicBezTo>
                    <a:pt x="3238500" y="6087006"/>
                    <a:pt x="2876020" y="6373938"/>
                    <a:pt x="2428875" y="6373938"/>
                  </a:cubicBezTo>
                  <a:cubicBezTo>
                    <a:pt x="1981730" y="6373938"/>
                    <a:pt x="1619250" y="6087004"/>
                    <a:pt x="1619250" y="5733054"/>
                  </a:cubicBezTo>
                  <a:cubicBezTo>
                    <a:pt x="1619250" y="6087006"/>
                    <a:pt x="1256770" y="6373938"/>
                    <a:pt x="809625" y="6373938"/>
                  </a:cubicBezTo>
                  <a:cubicBezTo>
                    <a:pt x="362480" y="6373938"/>
                    <a:pt x="0" y="6087004"/>
                    <a:pt x="0" y="5733053"/>
                  </a:cubicBezTo>
                  <a:lnTo>
                    <a:pt x="0" y="640885"/>
                  </a:lnTo>
                  <a:cubicBezTo>
                    <a:pt x="0" y="286934"/>
                    <a:pt x="362480" y="0"/>
                    <a:pt x="809625" y="0"/>
                  </a:cubicBezTo>
                  <a:cubicBezTo>
                    <a:pt x="1256770" y="0"/>
                    <a:pt x="1619250" y="286934"/>
                    <a:pt x="1619250" y="640885"/>
                  </a:cubicBezTo>
                  <a:cubicBezTo>
                    <a:pt x="1619250" y="286934"/>
                    <a:pt x="1981730" y="0"/>
                    <a:pt x="2428875" y="0"/>
                  </a:cubicBezTo>
                  <a:cubicBezTo>
                    <a:pt x="2876020" y="0"/>
                    <a:pt x="3238500" y="286934"/>
                    <a:pt x="3238500" y="640885"/>
                  </a:cubicBezTo>
                  <a:cubicBezTo>
                    <a:pt x="3238500" y="286934"/>
                    <a:pt x="3600979" y="0"/>
                    <a:pt x="4048125" y="0"/>
                  </a:cubicBezTo>
                  <a:cubicBezTo>
                    <a:pt x="4495271" y="0"/>
                    <a:pt x="4857750" y="286934"/>
                    <a:pt x="4857750" y="640885"/>
                  </a:cubicBezTo>
                  <a:cubicBezTo>
                    <a:pt x="4857750" y="286934"/>
                    <a:pt x="5220229" y="0"/>
                    <a:pt x="5667375" y="0"/>
                  </a:cubicBezTo>
                  <a:cubicBezTo>
                    <a:pt x="6114521" y="0"/>
                    <a:pt x="6477000" y="286934"/>
                    <a:pt x="6477000" y="640885"/>
                  </a:cubicBezTo>
                  <a:cubicBezTo>
                    <a:pt x="6477000" y="286934"/>
                    <a:pt x="6839479" y="0"/>
                    <a:pt x="7286625" y="0"/>
                  </a:cubicBezTo>
                  <a:cubicBezTo>
                    <a:pt x="7733771" y="0"/>
                    <a:pt x="8096250" y="286934"/>
                    <a:pt x="8096250" y="640885"/>
                  </a:cubicBezTo>
                  <a:cubicBezTo>
                    <a:pt x="8096250" y="286934"/>
                    <a:pt x="8458729" y="0"/>
                    <a:pt x="8905875" y="0"/>
                  </a:cubicBezTo>
                  <a:cubicBezTo>
                    <a:pt x="9353021" y="0"/>
                    <a:pt x="9715500" y="286934"/>
                    <a:pt x="9715500" y="640885"/>
                  </a:cubicBezTo>
                  <a:cubicBezTo>
                    <a:pt x="9715500" y="286934"/>
                    <a:pt x="10077981" y="0"/>
                    <a:pt x="10525125" y="0"/>
                  </a:cubicBezTo>
                  <a:cubicBezTo>
                    <a:pt x="10972269" y="0"/>
                    <a:pt x="11334750" y="286934"/>
                    <a:pt x="11334750" y="640885"/>
                  </a:cubicBezTo>
                  <a:cubicBezTo>
                    <a:pt x="11334750" y="286934"/>
                    <a:pt x="11697231" y="0"/>
                    <a:pt x="12144375" y="0"/>
                  </a:cubicBezTo>
                  <a:cubicBezTo>
                    <a:pt x="12591519" y="0"/>
                    <a:pt x="12954000" y="286934"/>
                    <a:pt x="12954000" y="6408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35908" y="3178429"/>
            <a:ext cx="8747474" cy="408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22"/>
              </a:lnSpc>
            </a:pPr>
            <a:r>
              <a:rPr lang="en-US" b="true" sz="15522">
                <a:solidFill>
                  <a:srgbClr val="839565"/>
                </a:solidFill>
                <a:latin typeface="Gliker Bold"/>
                <a:ea typeface="Gliker Bold"/>
                <a:cs typeface="Gliker Bold"/>
                <a:sym typeface="Gliker Bold"/>
              </a:rPr>
              <a:t>Thank</a:t>
            </a:r>
          </a:p>
          <a:p>
            <a:pPr algn="ctr" marL="0" indent="0" lvl="0">
              <a:lnSpc>
                <a:spcPts val="15522"/>
              </a:lnSpc>
            </a:pPr>
            <a:r>
              <a:rPr lang="en-US" b="true" sz="15522">
                <a:solidFill>
                  <a:srgbClr val="839565"/>
                </a:solidFill>
                <a:latin typeface="Gliker Bold"/>
                <a:ea typeface="Gliker Bold"/>
                <a:cs typeface="Gliker Bold"/>
                <a:sym typeface="Gliker Bold"/>
              </a:rPr>
              <a:t>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DAHUZ-WIcwU</dc:identifier>
  <dcterms:modified xsi:type="dcterms:W3CDTF">2011-08-01T06:04:30Z</dcterms:modified>
  <cp:revision>1</cp:revision>
  <dc:title>WASTE-TO-WEALTH (3).pptx</dc:title>
</cp:coreProperties>
</file>